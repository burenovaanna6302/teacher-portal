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62" r:id="rId3"/>
    <p:sldId id="271" r:id="rId4"/>
    <p:sldId id="257" r:id="rId5"/>
    <p:sldId id="272" r:id="rId6"/>
    <p:sldId id="258" r:id="rId7"/>
    <p:sldId id="259" r:id="rId8"/>
    <p:sldId id="273" r:id="rId9"/>
    <p:sldId id="274" r:id="rId10"/>
    <p:sldId id="260" r:id="rId11"/>
    <p:sldId id="275" r:id="rId12"/>
    <p:sldId id="263" r:id="rId13"/>
    <p:sldId id="264" r:id="rId14"/>
    <p:sldId id="276" r:id="rId15"/>
    <p:sldId id="265" r:id="rId16"/>
    <p:sldId id="266" r:id="rId17"/>
    <p:sldId id="277" r:id="rId18"/>
    <p:sldId id="278" r:id="rId19"/>
    <p:sldId id="279" r:id="rId20"/>
    <p:sldId id="267" r:id="rId21"/>
    <p:sldId id="268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-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-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265" autoAdjust="0"/>
    <p:restoredTop sz="94660"/>
  </p:normalViewPr>
  <p:slideViewPr>
    <p:cSldViewPr>
      <p:cViewPr varScale="1">
        <p:scale>
          <a:sx n="65" d="100"/>
          <a:sy n="65" d="100"/>
        </p:scale>
        <p:origin x="-752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Объект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pPr/>
              <a:t>29.08.2025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428992" y="1785926"/>
            <a:ext cx="5286412" cy="2500330"/>
          </a:xfrm>
        </p:spPr>
        <p:txBody>
          <a:bodyPr>
            <a:normAutofit/>
          </a:bodyPr>
          <a:lstStyle/>
          <a:p>
            <a:r>
              <a:rPr lang="ru-RU" b="1" i="1" dirty="0" smtClean="0"/>
              <a:t>Всеобщая история.</a:t>
            </a:r>
            <a:br>
              <a:rPr lang="ru-RU" b="1" i="1" dirty="0" smtClean="0"/>
            </a:br>
            <a:r>
              <a:rPr lang="ru-RU" b="1" i="1" dirty="0" smtClean="0"/>
              <a:t> История Средних веков. </a:t>
            </a:r>
            <a:r>
              <a:rPr lang="en-US" b="1" i="1" dirty="0" smtClean="0"/>
              <a:t>V-</a:t>
            </a:r>
            <a:r>
              <a:rPr lang="ru-RU" b="1" i="1" dirty="0" smtClean="0"/>
              <a:t> конец </a:t>
            </a:r>
            <a:r>
              <a:rPr lang="en-US" b="1" i="1" dirty="0" smtClean="0"/>
              <a:t>XV </a:t>
            </a:r>
            <a:r>
              <a:rPr lang="ru-RU" b="1" i="1" dirty="0" smtClean="0"/>
              <a:t>века</a:t>
            </a:r>
            <a:endParaRPr lang="ru-RU" b="1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4071934" y="4929198"/>
            <a:ext cx="4005266" cy="728652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Каменева М.Н., </a:t>
            </a:r>
          </a:p>
          <a:p>
            <a:r>
              <a:rPr lang="ru-RU" dirty="0" smtClean="0"/>
              <a:t>учитель истории и обществознания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64834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00562" y="152400"/>
            <a:ext cx="4186238" cy="9906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ВСПОМНИМ!!!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857620" y="1928802"/>
            <a:ext cx="4829180" cy="1428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 smtClean="0"/>
              <a:t>История – это наука, …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xmlns="" val="100445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00562" y="152400"/>
            <a:ext cx="4186238" cy="9906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ВСПОМНИМ!!!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857620" y="1857364"/>
            <a:ext cx="4829180" cy="264320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sz="3800" b="1" dirty="0" smtClean="0"/>
              <a:t>История</a:t>
            </a:r>
            <a:r>
              <a:rPr lang="ru-RU" sz="3800" dirty="0" smtClean="0"/>
              <a:t> — </a:t>
            </a:r>
            <a:r>
              <a:rPr lang="ru-RU" sz="3800" b="1" dirty="0" smtClean="0"/>
              <a:t>это</a:t>
            </a:r>
            <a:r>
              <a:rPr lang="ru-RU" sz="3800" dirty="0" smtClean="0"/>
              <a:t> </a:t>
            </a:r>
            <a:r>
              <a:rPr lang="ru-RU" sz="3800" b="1" dirty="0" smtClean="0"/>
              <a:t>наука</a:t>
            </a:r>
            <a:r>
              <a:rPr lang="ru-RU" sz="3800" b="1" dirty="0" smtClean="0"/>
              <a:t>, изучающая прошлое человеческого общества и его настоящее</a:t>
            </a:r>
            <a:r>
              <a:rPr lang="ru-RU" sz="3800" dirty="0" smtClean="0"/>
              <a:t>, закономерности развития общественной жизни в конкретных формах.</a:t>
            </a:r>
            <a:r>
              <a:rPr lang="ru-RU" sz="3200" dirty="0" smtClean="0"/>
              <a:t> 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xmlns="" val="100445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714744" y="571480"/>
            <a:ext cx="4972056" cy="5572164"/>
          </a:xfrm>
        </p:spPr>
        <p:txBody>
          <a:bodyPr>
            <a:normAutofit/>
          </a:bodyPr>
          <a:lstStyle/>
          <a:p>
            <a:pPr algn="ctr"/>
            <a:r>
              <a:rPr lang="ru-RU" b="1" i="1" dirty="0"/>
              <a:t>«История – это учительница жизни, потому что не знать того, что было до твоего рождения, означает навсегда остаться </a:t>
            </a:r>
            <a:r>
              <a:rPr lang="ru-RU" b="1" i="1" dirty="0" smtClean="0"/>
              <a:t>ребенком»</a:t>
            </a:r>
            <a:endParaRPr lang="ru-RU" b="1" i="1" dirty="0" smtClean="0"/>
          </a:p>
          <a:p>
            <a:pPr algn="r">
              <a:buNone/>
            </a:pPr>
            <a:r>
              <a:rPr lang="ru-RU" dirty="0" smtClean="0"/>
              <a:t>Древний Рим. </a:t>
            </a:r>
            <a:r>
              <a:rPr lang="ru-RU" dirty="0" smtClean="0"/>
              <a:t>Цицерон.</a:t>
            </a:r>
          </a:p>
          <a:p>
            <a:endParaRPr lang="ru-RU" dirty="0"/>
          </a:p>
          <a:p>
            <a:pPr algn="ctr"/>
            <a:r>
              <a:rPr lang="ru-RU" b="1" dirty="0" smtClean="0"/>
              <a:t>«История </a:t>
            </a:r>
            <a:r>
              <a:rPr lang="ru-RU" b="1" dirty="0"/>
              <a:t>– это фонарь в будущее, который светит нам из </a:t>
            </a:r>
            <a:r>
              <a:rPr lang="ru-RU" b="1" dirty="0" smtClean="0"/>
              <a:t>прошлого</a:t>
            </a:r>
            <a:r>
              <a:rPr lang="ru-RU" b="1" dirty="0" smtClean="0"/>
              <a:t>».</a:t>
            </a:r>
          </a:p>
          <a:p>
            <a:pPr algn="r">
              <a:buNone/>
            </a:pPr>
            <a:r>
              <a:rPr lang="ru-RU" dirty="0" smtClean="0"/>
              <a:t>русский </a:t>
            </a:r>
            <a:r>
              <a:rPr lang="ru-RU" dirty="0" smtClean="0"/>
              <a:t>историк </a:t>
            </a:r>
            <a:endParaRPr lang="ru-RU" dirty="0" smtClean="0"/>
          </a:p>
          <a:p>
            <a:pPr algn="r">
              <a:buNone/>
            </a:pPr>
            <a:r>
              <a:rPr lang="ru-RU" dirty="0" smtClean="0"/>
              <a:t>Ключевский В.О.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93960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857620" y="1857364"/>
            <a:ext cx="4829180" cy="26432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800" b="1" i="1" dirty="0" smtClean="0"/>
              <a:t>Зачем нужно изучать историю?</a:t>
            </a:r>
            <a:endParaRPr lang="ru-RU" sz="3200" b="1" i="1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0445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Вспомните</a:t>
            </a:r>
            <a:r>
              <a:rPr lang="ru-RU" b="1" dirty="0">
                <a:solidFill>
                  <a:schemeClr val="tx1"/>
                </a:solidFill>
              </a:rPr>
              <a:t>, какую историю вы изучали в прошлом году?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714876" y="500042"/>
            <a:ext cx="3744416" cy="17145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i="1" dirty="0" smtClean="0"/>
          </a:p>
          <a:p>
            <a:pPr algn="ctr"/>
            <a:r>
              <a:rPr lang="ru-RU" sz="3000" i="1" dirty="0" smtClean="0"/>
              <a:t>История </a:t>
            </a:r>
            <a:r>
              <a:rPr lang="ru-RU" sz="3000" i="1" dirty="0"/>
              <a:t>Древнего мира.</a:t>
            </a:r>
            <a:r>
              <a:rPr lang="ru-RU" sz="3000" dirty="0"/>
              <a:t> </a:t>
            </a:r>
            <a:endParaRPr lang="ru-RU" sz="3000" dirty="0" smtClean="0"/>
          </a:p>
          <a:p>
            <a:endParaRPr lang="ru-RU" dirty="0" smtClean="0"/>
          </a:p>
        </p:txBody>
      </p:sp>
      <p:pic>
        <p:nvPicPr>
          <p:cNvPr id="1026" name="Picture 2" descr="Древний мир - Твоя истор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4282" y="2000240"/>
            <a:ext cx="4085841" cy="316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4786314" y="4429132"/>
            <a:ext cx="3744416" cy="1712991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tabLst/>
              <a:defRPr/>
            </a:pPr>
            <a:r>
              <a:rPr kumimoji="0" lang="ru-RU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История Древнего мира – это часть Всемирной истории. </a:t>
            </a:r>
            <a:r>
              <a:rPr kumimoji="0" lang="ru-RU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что изучает Всемирная история? </a:t>
            </a: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4786314" y="2500306"/>
            <a:ext cx="3744416" cy="2071678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endParaRPr kumimoji="0" lang="ru-RU" sz="26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ru-RU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Она включала в себя историю первобытного общества и историю первых цивилизаций и государств.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ru-RU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4643438" y="2214554"/>
            <a:ext cx="4286280" cy="128588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tabLst/>
              <a:defRPr/>
            </a:pPr>
            <a:r>
              <a:rPr kumimoji="0" lang="ru-RU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Какие разделы мы изучили?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ru-RU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530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000496" y="285728"/>
            <a:ext cx="4757742" cy="22860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 </a:t>
            </a:r>
            <a:r>
              <a:rPr lang="ru-RU" sz="3200" b="1" dirty="0" smtClean="0"/>
              <a:t>Всемирная </a:t>
            </a:r>
            <a:r>
              <a:rPr lang="ru-RU" sz="3200" b="1" dirty="0"/>
              <a:t>история – </a:t>
            </a:r>
            <a:r>
              <a:rPr lang="ru-RU" sz="3200" dirty="0"/>
              <a:t>это история различных стран и народов с древнейших времен до наших дней.</a:t>
            </a:r>
          </a:p>
          <a:p>
            <a:endParaRPr lang="ru-RU" i="1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3929058" y="2428868"/>
            <a:ext cx="4757742" cy="3794752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ru-RU" sz="3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Вставьте пропуски</a:t>
            </a:r>
          </a:p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прошлом году мы познакомились с историей, которая охватывала период от появления первых стоянок человека в Восточной Африке (более</a:t>
            </a:r>
            <a:r>
              <a:rPr kumimoji="0" lang="ru-RU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__</a:t>
            </a:r>
            <a:r>
              <a:rPr kumimoji="0" lang="ru-RU" sz="3000" b="0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____</a:t>
            </a: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 лет назад) до разрушения самого крупного государства Древнего мира – Римской империи</a:t>
            </a:r>
            <a:r>
              <a:rPr kumimoji="0" lang="ru-RU" sz="3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в _</a:t>
            </a:r>
            <a:r>
              <a:rPr kumimoji="0" lang="ru-RU" sz="3000" b="0" i="1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___</a:t>
            </a:r>
            <a:r>
              <a:rPr kumimoji="0" lang="ru-RU" sz="3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  году.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ru-RU" sz="26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598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000496" y="285728"/>
            <a:ext cx="4757742" cy="22860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 </a:t>
            </a:r>
            <a:r>
              <a:rPr lang="ru-RU" sz="3200" b="1" dirty="0" smtClean="0"/>
              <a:t>Всемирная </a:t>
            </a:r>
            <a:r>
              <a:rPr lang="ru-RU" sz="3200" b="1" dirty="0"/>
              <a:t>история – </a:t>
            </a:r>
            <a:r>
              <a:rPr lang="ru-RU" sz="3200" dirty="0"/>
              <a:t>это история различных стран и народов с древнейших времен до наших дней.</a:t>
            </a:r>
          </a:p>
          <a:p>
            <a:endParaRPr lang="ru-RU" i="1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3929058" y="2428868"/>
            <a:ext cx="4757742" cy="3794752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ru-RU" sz="3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Вставьте пропуски</a:t>
            </a:r>
          </a:p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прошлом году мы познакомились с историей, которая охватывала период от появления первых стоянок человека в Восточной Африке (более</a:t>
            </a:r>
            <a:r>
              <a:rPr kumimoji="0" lang="ru-RU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__</a:t>
            </a:r>
            <a:r>
              <a:rPr kumimoji="0" lang="ru-RU" sz="3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0" lang="ru-RU" sz="3000" b="0" i="0" u="sng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млн.</a:t>
            </a:r>
            <a:r>
              <a:rPr kumimoji="0" lang="ru-RU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</a:t>
            </a: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лет назад) до разрушения самого крупного государства Древнего мира – Римской империи</a:t>
            </a:r>
            <a:r>
              <a:rPr kumimoji="0" lang="ru-RU" sz="3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в _</a:t>
            </a:r>
            <a:r>
              <a:rPr kumimoji="0" lang="ru-RU" sz="3000" b="0" i="1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___</a:t>
            </a:r>
            <a:r>
              <a:rPr kumimoji="0" lang="ru-RU" sz="3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  году.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ru-RU" sz="26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598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9617" cy="6858000"/>
          </a:xfrm>
          <a:prstGeom prst="rect">
            <a:avLst/>
          </a:prstGeom>
          <a:noFill/>
        </p:spPr>
      </p:pic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000496" y="285728"/>
            <a:ext cx="4757742" cy="22860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 </a:t>
            </a:r>
            <a:r>
              <a:rPr lang="ru-RU" sz="3200" b="1" dirty="0" smtClean="0"/>
              <a:t>Всемирная </a:t>
            </a:r>
            <a:r>
              <a:rPr lang="ru-RU" sz="3200" b="1" dirty="0"/>
              <a:t>история – </a:t>
            </a:r>
            <a:r>
              <a:rPr lang="ru-RU" sz="3200" dirty="0"/>
              <a:t>это история различных стран и народов с древнейших времен до наших дней.</a:t>
            </a:r>
          </a:p>
          <a:p>
            <a:endParaRPr lang="ru-RU" i="1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3929058" y="2428868"/>
            <a:ext cx="4757742" cy="3794752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ru-RU" sz="35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Вставьте пропуски</a:t>
            </a:r>
          </a:p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прошлом году мы познакомились с историей, которая охватывала период от появления первых стоянок человека в Восточной Африке (более</a:t>
            </a:r>
            <a:r>
              <a:rPr kumimoji="0" lang="ru-RU" sz="3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__</a:t>
            </a:r>
            <a:r>
              <a:rPr kumimoji="0" lang="ru-RU" sz="3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0" lang="ru-RU" sz="3000" b="0" i="0" u="sng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млн.</a:t>
            </a:r>
            <a:r>
              <a:rPr kumimoji="0" lang="ru-RU" sz="3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__</a:t>
            </a:r>
            <a:r>
              <a:rPr kumimoji="0" lang="ru-RU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лет назад) до разрушения самого крупного государства Древнего мира – Римской империи</a:t>
            </a:r>
            <a:r>
              <a:rPr kumimoji="0" lang="ru-RU" sz="3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в _</a:t>
            </a:r>
            <a:r>
              <a:rPr kumimoji="0" lang="ru-RU" sz="3000" b="0" i="1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476</a:t>
            </a:r>
            <a:r>
              <a:rPr kumimoji="0" lang="ru-RU" sz="3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_  году.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ru-RU" sz="26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7598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786182" y="285728"/>
            <a:ext cx="4900618" cy="2852742"/>
          </a:xfrm>
        </p:spPr>
        <p:txBody>
          <a:bodyPr/>
          <a:lstStyle/>
          <a:p>
            <a:pPr algn="ctr">
              <a:buNone/>
            </a:pPr>
            <a:r>
              <a:rPr lang="ru-RU" b="1" dirty="0" smtClean="0"/>
              <a:t>Х</a:t>
            </a:r>
            <a:r>
              <a:rPr lang="ru-RU" b="1" dirty="0" smtClean="0"/>
              <a:t>ронологические рамки</a:t>
            </a:r>
          </a:p>
          <a:p>
            <a:pPr algn="ctr">
              <a:buNone/>
            </a:pPr>
            <a:r>
              <a:rPr lang="ru-RU" dirty="0" smtClean="0"/>
              <a:t>истории </a:t>
            </a:r>
            <a:r>
              <a:rPr lang="ru-RU" dirty="0"/>
              <a:t>Древнего мира. </a:t>
            </a:r>
            <a:endParaRPr lang="ru-RU" b="1" dirty="0" smtClean="0"/>
          </a:p>
          <a:p>
            <a:endParaRPr lang="ru-RU" dirty="0"/>
          </a:p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Более 2 </a:t>
            </a:r>
            <a:r>
              <a:rPr lang="ru-RU" sz="3200" dirty="0" smtClean="0">
                <a:solidFill>
                  <a:srgbClr val="FF0000"/>
                </a:solidFill>
              </a:rPr>
              <a:t>млн. лет назад – 476 год н.э.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3571868" y="3143248"/>
            <a:ext cx="5229204" cy="200026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ru-RU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Хронологические рамки – </a:t>
            </a:r>
            <a:r>
              <a:rPr kumimoji="0" lang="ru-RU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это даты начала и окончания какого-нибудь события или эпохи в истории человечества. </a:t>
            </a:r>
          </a:p>
        </p:txBody>
      </p:sp>
    </p:spTree>
    <p:extLst>
      <p:ext uri="{BB962C8B-B14F-4D97-AF65-F5344CB8AC3E}">
        <p14:creationId xmlns:p14="http://schemas.microsoft.com/office/powerpoint/2010/main" xmlns="" val="422602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857620" y="214290"/>
            <a:ext cx="4900618" cy="1785950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ru-RU" sz="3200" b="1" dirty="0" smtClean="0">
                <a:solidFill>
                  <a:srgbClr val="FF0000"/>
                </a:solidFill>
              </a:rPr>
              <a:t>Какая эпоха началась после истории Древнего мира?</a:t>
            </a:r>
          </a:p>
          <a:p>
            <a:pPr algn="ctr">
              <a:buNone/>
            </a:pPr>
            <a:r>
              <a:rPr lang="ru-RU" sz="3200" b="1" dirty="0" smtClean="0">
                <a:solidFill>
                  <a:srgbClr val="FF0000"/>
                </a:solidFill>
              </a:rPr>
              <a:t>Определите ее хронологические рамки.</a:t>
            </a:r>
            <a:endParaRPr lang="ru-RU" sz="3200" b="1" dirty="0">
              <a:solidFill>
                <a:srgbClr val="FF0000"/>
              </a:solidFill>
            </a:endParaRPr>
          </a:p>
        </p:txBody>
      </p:sp>
      <p:pic>
        <p:nvPicPr>
          <p:cNvPr id="28674" name="Picture 2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714752"/>
            <a:ext cx="8586690" cy="2928958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3643306" y="1857364"/>
            <a:ext cx="51435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/>
              <a:t>Средние века (Средневековье)</a:t>
            </a:r>
            <a:r>
              <a:rPr lang="ru-RU" sz="2000" dirty="0" smtClean="0"/>
              <a:t> — принятое в современной исторической науке обозначение </a:t>
            </a:r>
            <a:r>
              <a:rPr lang="ru-RU" sz="2000" b="1" dirty="0" smtClean="0"/>
              <a:t>периода истории преимущественно Европы и Ближнего Востока</a:t>
            </a:r>
            <a:r>
              <a:rPr lang="ru-RU" sz="2000" dirty="0" smtClean="0"/>
              <a:t>, следующего после Античности и предшествующего Новому времени.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xmlns="" val="422602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71802" y="0"/>
            <a:ext cx="5357850" cy="714396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FF0000"/>
                </a:solidFill>
              </a:rPr>
              <a:t>Что же это за </a:t>
            </a:r>
            <a:r>
              <a:rPr lang="ru-RU" b="1" dirty="0" smtClean="0">
                <a:solidFill>
                  <a:srgbClr val="FF0000"/>
                </a:solidFill>
              </a:rPr>
              <a:t>эпоха?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428992" y="785794"/>
            <a:ext cx="5429288" cy="571504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dirty="0" smtClean="0"/>
              <a:t>Еще </a:t>
            </a:r>
            <a:r>
              <a:rPr lang="ru-RU" dirty="0"/>
              <a:t>не так давно среди историков бытовало мнение, что средневековье – это </a:t>
            </a:r>
            <a:r>
              <a:rPr lang="ru-RU" dirty="0">
                <a:solidFill>
                  <a:srgbClr val="FF0000"/>
                </a:solidFill>
              </a:rPr>
              <a:t>«темные века»</a:t>
            </a:r>
            <a:r>
              <a:rPr lang="ru-RU" dirty="0"/>
              <a:t> в истории </a:t>
            </a:r>
            <a:r>
              <a:rPr lang="ru-RU" dirty="0" smtClean="0"/>
              <a:t>человечества:</a:t>
            </a:r>
          </a:p>
          <a:p>
            <a:pPr>
              <a:buNone/>
            </a:pPr>
            <a:r>
              <a:rPr lang="ru-RU" sz="4200" dirty="0" smtClean="0">
                <a:solidFill>
                  <a:srgbClr val="FF0000"/>
                </a:solidFill>
              </a:rPr>
              <a:t>˅</a:t>
            </a:r>
            <a:r>
              <a:rPr lang="ru-RU" dirty="0" smtClean="0"/>
              <a:t>многие </a:t>
            </a:r>
            <a:r>
              <a:rPr lang="ru-RU" dirty="0"/>
              <a:t>достижения культуры древних цивилизаций, в частности Древней Греции и Древнего Рима, были утеряны, а памятники разрушены под натиском </a:t>
            </a:r>
            <a:r>
              <a:rPr lang="ru-RU" dirty="0" smtClean="0"/>
              <a:t>варваров; </a:t>
            </a:r>
          </a:p>
          <a:p>
            <a:pPr>
              <a:buNone/>
            </a:pPr>
            <a:r>
              <a:rPr lang="ru-RU" sz="4200" dirty="0" smtClean="0">
                <a:solidFill>
                  <a:srgbClr val="FF0000"/>
                </a:solidFill>
              </a:rPr>
              <a:t>˅</a:t>
            </a:r>
            <a:r>
              <a:rPr lang="ru-RU" sz="2800" dirty="0" smtClean="0">
                <a:solidFill>
                  <a:srgbClr val="FF0000"/>
                </a:solidFill>
              </a:rPr>
              <a:t> </a:t>
            </a:r>
            <a:r>
              <a:rPr lang="ru-RU" dirty="0" smtClean="0"/>
              <a:t>церковь </a:t>
            </a:r>
            <a:r>
              <a:rPr lang="ru-RU" dirty="0"/>
              <a:t>не поощряла познание людьми законов природы, тормозила развитие науки, устраивала гонения на писателей и ученых, выжигая огнем те идеи, которые они </a:t>
            </a:r>
            <a:r>
              <a:rPr lang="ru-RU" dirty="0" smtClean="0"/>
              <a:t>распространяли;</a:t>
            </a:r>
            <a:endParaRPr lang="ru-RU" dirty="0"/>
          </a:p>
          <a:p>
            <a:pPr>
              <a:buNone/>
            </a:pPr>
            <a:r>
              <a:rPr lang="ru-RU" sz="4600" dirty="0" smtClean="0">
                <a:solidFill>
                  <a:srgbClr val="FF0000"/>
                </a:solidFill>
              </a:rPr>
              <a:t>˅</a:t>
            </a:r>
            <a:r>
              <a:rPr lang="ru-RU" sz="2800" dirty="0" smtClean="0">
                <a:solidFill>
                  <a:srgbClr val="FF0000"/>
                </a:solidFill>
              </a:rPr>
              <a:t> </a:t>
            </a:r>
            <a:r>
              <a:rPr lang="ru-RU" dirty="0" smtClean="0"/>
              <a:t>костры </a:t>
            </a:r>
            <a:r>
              <a:rPr lang="ru-RU" dirty="0"/>
              <a:t>инквизиции дымились над всей Европой, уничтожая тысячи </a:t>
            </a:r>
            <a:r>
              <a:rPr lang="ru-RU" dirty="0" smtClean="0"/>
              <a:t>людей;</a:t>
            </a:r>
          </a:p>
          <a:p>
            <a:pPr>
              <a:buNone/>
            </a:pPr>
            <a:r>
              <a:rPr lang="ru-RU" sz="4600" dirty="0" smtClean="0">
                <a:solidFill>
                  <a:srgbClr val="FF0000"/>
                </a:solidFill>
              </a:rPr>
              <a:t>˅</a:t>
            </a:r>
            <a:r>
              <a:rPr lang="ru-RU" sz="2800" dirty="0" smtClean="0">
                <a:solidFill>
                  <a:srgbClr val="FF0000"/>
                </a:solidFill>
              </a:rPr>
              <a:t> </a:t>
            </a:r>
            <a:r>
              <a:rPr lang="ru-RU" dirty="0" smtClean="0"/>
              <a:t>эпидемии </a:t>
            </a:r>
            <a:r>
              <a:rPr lang="ru-RU" dirty="0"/>
              <a:t>чумы и </a:t>
            </a:r>
            <a:r>
              <a:rPr lang="ru-RU" dirty="0" smtClean="0"/>
              <a:t>оспы;</a:t>
            </a:r>
          </a:p>
          <a:p>
            <a:pPr>
              <a:buNone/>
            </a:pPr>
            <a:r>
              <a:rPr lang="ru-RU" sz="4200" dirty="0" smtClean="0">
                <a:solidFill>
                  <a:srgbClr val="FF0000"/>
                </a:solidFill>
              </a:rPr>
              <a:t>˅</a:t>
            </a:r>
            <a:r>
              <a:rPr lang="ru-RU" sz="2800" dirty="0" smtClean="0">
                <a:solidFill>
                  <a:srgbClr val="FF0000"/>
                </a:solidFill>
              </a:rPr>
              <a:t> </a:t>
            </a:r>
            <a:r>
              <a:rPr lang="ru-RU" dirty="0" smtClean="0"/>
              <a:t>войны </a:t>
            </a:r>
            <a:r>
              <a:rPr lang="ru-RU" dirty="0" smtClean="0"/>
              <a:t>– Столетняя </a:t>
            </a:r>
            <a:r>
              <a:rPr lang="ru-RU" dirty="0"/>
              <a:t>война, Война Алой и Белой Розы др.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776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3240" y="214290"/>
            <a:ext cx="5543560" cy="64295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Достижения Средневековья</a:t>
            </a:r>
            <a:r>
              <a:rPr lang="ru-RU" dirty="0" smtClean="0">
                <a:solidFill>
                  <a:srgbClr val="FF0000"/>
                </a:solidFill>
              </a:rPr>
              <a:t>: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428992" y="1000108"/>
            <a:ext cx="5500726" cy="5715040"/>
          </a:xfrm>
        </p:spPr>
        <p:txBody>
          <a:bodyPr>
            <a:normAutofit fontScale="47500" lnSpcReduction="20000"/>
          </a:bodyPr>
          <a:lstStyle/>
          <a:p>
            <a:pPr lvl="0">
              <a:buNone/>
            </a:pPr>
            <a:r>
              <a:rPr lang="ru-RU" sz="4200" dirty="0" smtClean="0">
                <a:solidFill>
                  <a:srgbClr val="FF0000"/>
                </a:solidFill>
              </a:rPr>
              <a:t>˅</a:t>
            </a:r>
            <a:r>
              <a:rPr lang="ru-RU" sz="5000" dirty="0" smtClean="0"/>
              <a:t>Многие </a:t>
            </a:r>
            <a:r>
              <a:rPr lang="ru-RU" sz="5000" dirty="0"/>
              <a:t>современные города и государства были основаны в период средневековья</a:t>
            </a:r>
          </a:p>
          <a:p>
            <a:pPr lvl="0">
              <a:buNone/>
            </a:pPr>
            <a:r>
              <a:rPr lang="ru-RU" sz="5000" dirty="0" smtClean="0">
                <a:solidFill>
                  <a:srgbClr val="FF0000"/>
                </a:solidFill>
              </a:rPr>
              <a:t>˅ </a:t>
            </a:r>
            <a:r>
              <a:rPr lang="ru-RU" sz="5000" dirty="0" smtClean="0"/>
              <a:t>Вилка</a:t>
            </a:r>
            <a:r>
              <a:rPr lang="ru-RU" sz="5000" dirty="0"/>
              <a:t>, зеркало, мыло, очки, пуговицы, механические часы, огнестрельное оружие – изобретения, сделанные в средневековом </a:t>
            </a:r>
            <a:r>
              <a:rPr lang="ru-RU" sz="5000" dirty="0" smtClean="0"/>
              <a:t>обществе</a:t>
            </a:r>
            <a:endParaRPr lang="ru-RU" sz="5000" dirty="0"/>
          </a:p>
          <a:p>
            <a:pPr lvl="0">
              <a:buNone/>
            </a:pPr>
            <a:r>
              <a:rPr lang="ru-RU" sz="5000" dirty="0" smtClean="0">
                <a:solidFill>
                  <a:srgbClr val="FF0000"/>
                </a:solidFill>
              </a:rPr>
              <a:t>˅ </a:t>
            </a:r>
            <a:r>
              <a:rPr lang="ru-RU" sz="5000" dirty="0" smtClean="0"/>
              <a:t>Смелые </a:t>
            </a:r>
            <a:r>
              <a:rPr lang="ru-RU" sz="5000" dirty="0"/>
              <a:t>путешественники исследовали значительную часть суши, морей, океанов, открыли Америку и Австралию</a:t>
            </a:r>
          </a:p>
          <a:p>
            <a:pPr lvl="0">
              <a:buNone/>
            </a:pPr>
            <a:r>
              <a:rPr lang="ru-RU" sz="5000" dirty="0" smtClean="0">
                <a:solidFill>
                  <a:srgbClr val="FF0000"/>
                </a:solidFill>
              </a:rPr>
              <a:t>˅ </a:t>
            </a:r>
            <a:r>
              <a:rPr lang="ru-RU" sz="5000" dirty="0" smtClean="0"/>
              <a:t>Появилась </a:t>
            </a:r>
            <a:r>
              <a:rPr lang="ru-RU" sz="5000" dirty="0"/>
              <a:t>первая печатная </a:t>
            </a:r>
            <a:r>
              <a:rPr lang="ru-RU" sz="5000" dirty="0" smtClean="0"/>
              <a:t>книга</a:t>
            </a:r>
            <a:r>
              <a:rPr lang="ru-RU" sz="5000" dirty="0" smtClean="0"/>
              <a:t>,</a:t>
            </a:r>
            <a:endParaRPr lang="ru-RU" sz="5000" dirty="0"/>
          </a:p>
          <a:p>
            <a:pPr lvl="0">
              <a:buNone/>
            </a:pPr>
            <a:r>
              <a:rPr lang="ru-RU" sz="5000" dirty="0" smtClean="0">
                <a:solidFill>
                  <a:srgbClr val="FF0000"/>
                </a:solidFill>
              </a:rPr>
              <a:t>˅ </a:t>
            </a:r>
            <a:r>
              <a:rPr lang="ru-RU" sz="5000" dirty="0" smtClean="0"/>
              <a:t>Выдающихся </a:t>
            </a:r>
            <a:r>
              <a:rPr lang="ru-RU" sz="5000" dirty="0"/>
              <a:t>успехов достигло искусство. Построенные много столетий тому назад крепости, храмы, дворцы до сих пор украшают города</a:t>
            </a:r>
            <a:r>
              <a:rPr lang="ru-RU" sz="5000" dirty="0" smtClean="0"/>
              <a:t>.</a:t>
            </a:r>
            <a:endParaRPr lang="ru-RU" sz="5000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/>
          <a:srcRect l="52149" t="54167" r="33789" b="23958"/>
          <a:stretch>
            <a:fillRect/>
          </a:stretch>
        </p:blipFill>
        <p:spPr bwMode="auto">
          <a:xfrm>
            <a:off x="285720" y="1643050"/>
            <a:ext cx="3275942" cy="2866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 l="33203" t="65625" r="48047" b="25000"/>
          <a:stretch>
            <a:fillRect/>
          </a:stretch>
        </p:blipFill>
        <p:spPr bwMode="auto">
          <a:xfrm>
            <a:off x="214282" y="5072074"/>
            <a:ext cx="3429024" cy="964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72648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64" y="0"/>
            <a:ext cx="5686436" cy="71439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Три периода Средневековья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286116" y="857232"/>
            <a:ext cx="5643602" cy="5572164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1. Отрезок </a:t>
            </a:r>
            <a:r>
              <a:rPr lang="ru-RU" dirty="0" smtClean="0"/>
              <a:t>времени </a:t>
            </a:r>
            <a:r>
              <a:rPr lang="ru-RU" dirty="0" smtClean="0">
                <a:solidFill>
                  <a:srgbClr val="FF0000"/>
                </a:solidFill>
              </a:rPr>
              <a:t>с V по середину XI в</a:t>
            </a:r>
            <a:r>
              <a:rPr lang="ru-RU" dirty="0" smtClean="0"/>
              <a:t>. называют </a:t>
            </a:r>
            <a:r>
              <a:rPr lang="ru-RU" dirty="0" smtClean="0">
                <a:solidFill>
                  <a:srgbClr val="FF0000"/>
                </a:solidFill>
              </a:rPr>
              <a:t>ранним Средневековьем</a:t>
            </a:r>
            <a:r>
              <a:rPr lang="ru-RU" dirty="0" smtClean="0"/>
              <a:t>. В этот период складываются западноевропейская, </a:t>
            </a:r>
            <a:r>
              <a:rPr lang="ru-RU" dirty="0" err="1" smtClean="0"/>
              <a:t>восточно-христиан</a:t>
            </a:r>
            <a:r>
              <a:rPr lang="ru-RU" dirty="0" smtClean="0"/>
              <a:t> </a:t>
            </a:r>
            <a:r>
              <a:rPr lang="ru-RU" dirty="0" err="1" smtClean="0"/>
              <a:t>ская</a:t>
            </a:r>
            <a:r>
              <a:rPr lang="ru-RU" dirty="0" smtClean="0"/>
              <a:t> и мусульманская цивилизации. Лежащие в их основе </a:t>
            </a:r>
            <a:r>
              <a:rPr lang="ru-RU" dirty="0" smtClean="0"/>
              <a:t>религии</a:t>
            </a:r>
            <a:r>
              <a:rPr lang="ru-RU" dirty="0" smtClean="0"/>
              <a:t> — христианство и ислам становятся мировыми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2. Второй период (</a:t>
            </a:r>
            <a:r>
              <a:rPr lang="ru-RU" dirty="0" smtClean="0">
                <a:solidFill>
                  <a:srgbClr val="FF0000"/>
                </a:solidFill>
              </a:rPr>
              <a:t>с середины XI по начало XIV в.</a:t>
            </a:r>
            <a:r>
              <a:rPr lang="ru-RU" dirty="0" smtClean="0"/>
              <a:t>) именуют </a:t>
            </a:r>
            <a:r>
              <a:rPr lang="ru-RU" dirty="0" smtClean="0">
                <a:solidFill>
                  <a:srgbClr val="FF0000"/>
                </a:solidFill>
              </a:rPr>
              <a:t>зрелым </a:t>
            </a:r>
            <a:r>
              <a:rPr lang="ru-RU" dirty="0" smtClean="0">
                <a:solidFill>
                  <a:srgbClr val="FF0000"/>
                </a:solidFill>
              </a:rPr>
              <a:t>Средневековьем. </a:t>
            </a:r>
            <a:r>
              <a:rPr lang="ru-RU" dirty="0" smtClean="0"/>
              <a:t>В это время хозяйственная, общественная и культурная жизнь средневековых стран и народов Европы и Азии достигает расцвета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3. </a:t>
            </a:r>
            <a:r>
              <a:rPr lang="ru-RU" dirty="0" smtClean="0">
                <a:solidFill>
                  <a:srgbClr val="FF0000"/>
                </a:solidFill>
              </a:rPr>
              <a:t>Середина XIV — конец XV в. — это позднее Средневековье</a:t>
            </a:r>
            <a:r>
              <a:rPr lang="ru-RU" dirty="0" smtClean="0"/>
              <a:t>, время изменения сложившихся в предыдущий период </a:t>
            </a:r>
            <a:r>
              <a:rPr lang="ru-RU" dirty="0" smtClean="0"/>
              <a:t>общественных </a:t>
            </a:r>
            <a:r>
              <a:rPr lang="ru-RU" dirty="0" smtClean="0"/>
              <a:t>порядков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64" y="285728"/>
            <a:ext cx="5686436" cy="85727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Помощники в изучении </a:t>
            </a:r>
            <a:r>
              <a:rPr lang="ru-RU" dirty="0" smtClean="0">
                <a:solidFill>
                  <a:schemeClr val="tx1"/>
                </a:solidFill>
              </a:rPr>
              <a:t>истории – </a:t>
            </a:r>
            <a:r>
              <a:rPr lang="ru-RU" dirty="0" smtClean="0">
                <a:solidFill>
                  <a:srgbClr val="FF0000"/>
                </a:solidFill>
              </a:rPr>
              <a:t>исторические источники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3500430" y="1219200"/>
            <a:ext cx="5186370" cy="4710130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b="1" dirty="0"/>
              <a:t>Вспомните, что такое исторические источники? </a:t>
            </a:r>
            <a:endParaRPr lang="ru-RU" b="1" dirty="0" smtClean="0"/>
          </a:p>
          <a:p>
            <a:pPr algn="ctr"/>
            <a:r>
              <a:rPr lang="ru-RU" b="1" dirty="0" smtClean="0"/>
              <a:t>Исторический источник</a:t>
            </a:r>
            <a:r>
              <a:rPr lang="ru-RU" dirty="0" smtClean="0"/>
              <a:t> — это сохранившийся с прошлых времён до наших дней объект (запись, предмет, здание, сказание и т. д.), несущий в себе сведения (информацию) о жизни в прошлом.</a:t>
            </a:r>
            <a:endParaRPr lang="ru-RU" dirty="0"/>
          </a:p>
          <a:p>
            <a:pPr algn="ctr"/>
            <a:r>
              <a:rPr lang="ru-RU" b="1" dirty="0" smtClean="0"/>
              <a:t>Какие большие </a:t>
            </a:r>
            <a:r>
              <a:rPr lang="ru-RU" b="1" dirty="0"/>
              <a:t>группы </a:t>
            </a:r>
            <a:r>
              <a:rPr lang="ru-RU" b="1" dirty="0" smtClean="0"/>
              <a:t>исторических источников даны в учебнике? (п.3)</a:t>
            </a:r>
            <a:endParaRPr lang="ru-RU" b="1" dirty="0" smtClean="0"/>
          </a:p>
          <a:p>
            <a:endParaRPr lang="ru-RU" b="1" dirty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xmlns="" val="420489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Исторические </a:t>
            </a:r>
            <a:r>
              <a:rPr lang="ru-RU" b="1" dirty="0" smtClean="0">
                <a:solidFill>
                  <a:srgbClr val="FF0000"/>
                </a:solidFill>
              </a:rPr>
              <a:t>источники </a:t>
            </a:r>
            <a:br>
              <a:rPr lang="ru-RU" b="1" dirty="0" smtClean="0">
                <a:solidFill>
                  <a:srgbClr val="FF0000"/>
                </a:solidFill>
              </a:rPr>
            </a:br>
            <a:r>
              <a:rPr lang="ru-RU" b="1" dirty="0" smtClean="0">
                <a:solidFill>
                  <a:schemeClr val="tx1"/>
                </a:solidFill>
              </a:rPr>
              <a:t>(задание в тетради). </a:t>
            </a:r>
            <a:br>
              <a:rPr lang="ru-RU" b="1" dirty="0" smtClean="0">
                <a:solidFill>
                  <a:schemeClr val="tx1"/>
                </a:solidFill>
              </a:rPr>
            </a:br>
            <a:r>
              <a:rPr lang="ru-RU" b="1" dirty="0" smtClean="0">
                <a:solidFill>
                  <a:schemeClr val="tx1"/>
                </a:solidFill>
              </a:rPr>
              <a:t>Время на выполнение – 7 мин</a:t>
            </a:r>
            <a:endParaRPr lang="ru-RU" b="1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xmlns="" val="3940872125"/>
              </p:ext>
            </p:extLst>
          </p:nvPr>
        </p:nvGraphicFramePr>
        <p:xfrm>
          <a:off x="457200" y="1600200"/>
          <a:ext cx="8401080" cy="354331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00360"/>
                <a:gridCol w="2800360"/>
                <a:gridCol w="2800360"/>
              </a:tblGrid>
              <a:tr h="8891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Письменные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Изобразительные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Материальные</a:t>
                      </a:r>
                      <a:endParaRPr lang="ru-RU" dirty="0"/>
                    </a:p>
                  </a:txBody>
                  <a:tcPr/>
                </a:tc>
              </a:tr>
              <a:tr h="2654173">
                <a:tc>
                  <a:txBody>
                    <a:bodyPr/>
                    <a:lstStyle/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  <a:p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72297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Исторические </a:t>
            </a:r>
            <a:r>
              <a:rPr lang="ru-RU" b="1" dirty="0" smtClean="0">
                <a:solidFill>
                  <a:srgbClr val="FF0000"/>
                </a:solidFill>
              </a:rPr>
              <a:t>источники</a:t>
            </a:r>
            <a:endParaRPr lang="ru-RU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xmlns="" val="3940872125"/>
              </p:ext>
            </p:extLst>
          </p:nvPr>
        </p:nvGraphicFramePr>
        <p:xfrm>
          <a:off x="457200" y="1600200"/>
          <a:ext cx="8401080" cy="36147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00360"/>
                <a:gridCol w="2800360"/>
                <a:gridCol w="2800360"/>
              </a:tblGrid>
              <a:tr h="8322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Письменные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Изобразительные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Материальные</a:t>
                      </a:r>
                      <a:endParaRPr lang="ru-RU" dirty="0"/>
                    </a:p>
                  </a:txBody>
                  <a:tcPr/>
                </a:tc>
              </a:tr>
              <a:tr h="2782495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хроники; 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жизнеописания правите лей и святых;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baseline="0" dirty="0" smtClean="0"/>
                        <a:t> </a:t>
                      </a:r>
                      <a:r>
                        <a:rPr lang="ru-RU" dirty="0" smtClean="0"/>
                        <a:t>воспоминания;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литературные произведения;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личные письма;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 международные договоры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иллюстрации</a:t>
                      </a:r>
                      <a:r>
                        <a:rPr lang="ru-RU" baseline="0" dirty="0" smtClean="0"/>
                        <a:t> в ру</a:t>
                      </a:r>
                      <a:r>
                        <a:rPr lang="ru-RU" dirty="0" smtClean="0"/>
                        <a:t>кописных книгах; 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произведения храмовой живописи;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рисунки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smtClean="0"/>
                        <a:t>из средневековых хроник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дворцы;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мосты;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крепости;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храмы;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монеты;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детали военного снаряжения;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личные вещи;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ru-RU" dirty="0" smtClean="0"/>
                        <a:t> посуда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214810" y="5429264"/>
            <a:ext cx="40339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Какая из этих групп, по вашему мнению, больше может рассказать об истории средневековья?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72297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43174" y="152400"/>
            <a:ext cx="6043626" cy="990600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Как работать с учебником.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357554" y="1219200"/>
            <a:ext cx="5329246" cy="493776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/>
              <a:t>Исторические понятия и термины в тексте параграфов </a:t>
            </a:r>
            <a:r>
              <a:rPr lang="ru-RU" sz="3200" dirty="0" smtClean="0"/>
              <a:t>выделены </a:t>
            </a:r>
            <a:r>
              <a:rPr lang="ru-RU" sz="3200" i="1" dirty="0" smtClean="0"/>
              <a:t>курсивом</a:t>
            </a:r>
            <a:r>
              <a:rPr lang="ru-RU" sz="3200" dirty="0" smtClean="0"/>
              <a:t>. Имена исторических персоналий — </a:t>
            </a:r>
            <a:r>
              <a:rPr lang="ru-RU" sz="3200" b="1" i="1" dirty="0" smtClean="0"/>
              <a:t>курсивным и полужирным</a:t>
            </a:r>
            <a:r>
              <a:rPr lang="ru-RU" sz="3200" dirty="0" smtClean="0"/>
              <a:t>, а дат — </a:t>
            </a:r>
            <a:r>
              <a:rPr lang="ru-RU" sz="3200" b="1" dirty="0" smtClean="0"/>
              <a:t>полужирным</a:t>
            </a:r>
            <a:r>
              <a:rPr lang="ru-RU" sz="3200" dirty="0" smtClean="0"/>
              <a:t> начертанием шрифта. </a:t>
            </a:r>
            <a:endParaRPr lang="ru-RU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43174" y="152400"/>
            <a:ext cx="6043626" cy="990600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Как работать с учебником.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 l="32172" t="29452" r="32975" b="25269"/>
          <a:stretch>
            <a:fillRect/>
          </a:stretch>
        </p:blipFill>
        <p:spPr bwMode="auto">
          <a:xfrm>
            <a:off x="2786050" y="1357298"/>
            <a:ext cx="6000792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00562" y="152400"/>
            <a:ext cx="4186238" cy="990600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Подведем итоги: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4214810" y="1219200"/>
            <a:ext cx="4471990" cy="4937760"/>
          </a:xfrm>
        </p:spPr>
        <p:txBody>
          <a:bodyPr/>
          <a:lstStyle/>
          <a:p>
            <a:pPr lvl="1"/>
            <a:r>
              <a:rPr lang="ru-RU" dirty="0"/>
              <a:t>сегодня я узнал...</a:t>
            </a:r>
            <a:endParaRPr lang="ru-RU" sz="2400" dirty="0"/>
          </a:p>
          <a:p>
            <a:pPr lvl="1"/>
            <a:r>
              <a:rPr lang="ru-RU" dirty="0"/>
              <a:t>было трудно…</a:t>
            </a:r>
            <a:endParaRPr lang="ru-RU" sz="2400" dirty="0"/>
          </a:p>
          <a:p>
            <a:pPr lvl="1"/>
            <a:r>
              <a:rPr lang="ru-RU" dirty="0" smtClean="0"/>
              <a:t>я </a:t>
            </a:r>
            <a:r>
              <a:rPr lang="ru-RU" dirty="0"/>
              <a:t>научился…</a:t>
            </a:r>
            <a:endParaRPr lang="ru-RU" sz="2400" dirty="0"/>
          </a:p>
          <a:p>
            <a:pPr lvl="1"/>
            <a:r>
              <a:rPr lang="ru-RU" dirty="0" smtClean="0"/>
              <a:t>меня </a:t>
            </a:r>
            <a:r>
              <a:rPr lang="ru-RU" dirty="0"/>
              <a:t>удивило…</a:t>
            </a:r>
            <a:endParaRPr lang="ru-RU" sz="2400" dirty="0"/>
          </a:p>
          <a:p>
            <a:pPr lvl="1"/>
            <a:r>
              <a:rPr lang="ru-RU" dirty="0"/>
              <a:t>мне захотелось… и т.д.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7468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617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29058" y="152400"/>
            <a:ext cx="4757742" cy="990600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Домашнее задание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071934" y="2276873"/>
            <a:ext cx="40719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 smtClean="0"/>
              <a:t>стр</a:t>
            </a:r>
            <a:r>
              <a:rPr lang="ru-RU" sz="3600" dirty="0"/>
              <a:t>. </a:t>
            </a:r>
            <a:r>
              <a:rPr lang="ru-RU" sz="3600" dirty="0" smtClean="0"/>
              <a:t>3-6 –пересказ </a:t>
            </a:r>
            <a:r>
              <a:rPr lang="ru-RU" sz="3600" dirty="0"/>
              <a:t>+ </a:t>
            </a:r>
            <a:r>
              <a:rPr lang="ru-RU" sz="3600" dirty="0" smtClean="0"/>
              <a:t>записи в тетради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xmlns="" val="352715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185</TotalTime>
  <Words>468</Words>
  <Application>Microsoft Office PowerPoint</Application>
  <PresentationFormat>Экран (4:3)</PresentationFormat>
  <Paragraphs>107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Начальная</vt:lpstr>
      <vt:lpstr>Всеобщая история.  История Средних веков. V- конец XV века</vt:lpstr>
      <vt:lpstr>ВСПОМНИМ!!!</vt:lpstr>
      <vt:lpstr>ВСПОМНИМ!!!</vt:lpstr>
      <vt:lpstr>Слайд 4</vt:lpstr>
      <vt:lpstr>Слайд 5</vt:lpstr>
      <vt:lpstr>Вспомните, какую историю вы изучали в прошлом году?</vt:lpstr>
      <vt:lpstr>Слайд 7</vt:lpstr>
      <vt:lpstr>Слайд 8</vt:lpstr>
      <vt:lpstr>Слайд 9</vt:lpstr>
      <vt:lpstr>Слайд 10</vt:lpstr>
      <vt:lpstr>Слайд 11</vt:lpstr>
      <vt:lpstr>Что же это за эпоха?</vt:lpstr>
      <vt:lpstr>Достижения Средневековья:</vt:lpstr>
      <vt:lpstr>Три периода Средневековья</vt:lpstr>
      <vt:lpstr>Помощники в изучении истории – исторические источники</vt:lpstr>
      <vt:lpstr>Исторические источники  (задание в тетради).  Время на выполнение – 7 мин</vt:lpstr>
      <vt:lpstr>Исторические источники</vt:lpstr>
      <vt:lpstr>Как работать с учебником.</vt:lpstr>
      <vt:lpstr>Как работать с учебником.</vt:lpstr>
      <vt:lpstr>Подведем итоги:</vt:lpstr>
      <vt:lpstr>Домашнее задание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Место истории Средних веков в истории человечества</dc:title>
  <dc:creator>Nina</dc:creator>
  <cp:lastModifiedBy>sch32</cp:lastModifiedBy>
  <cp:revision>35</cp:revision>
  <dcterms:created xsi:type="dcterms:W3CDTF">2020-09-01T19:39:39Z</dcterms:created>
  <dcterms:modified xsi:type="dcterms:W3CDTF">2025-08-29T18:21:34Z</dcterms:modified>
</cp:coreProperties>
</file>