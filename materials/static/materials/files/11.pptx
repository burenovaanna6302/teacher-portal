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3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Заголовок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16" name="Дата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B0E2-D85A-4291-9AD2-4076A4952F2E}" type="datetimeFigureOut">
              <a:rPr lang="ru-RU" smtClean="0"/>
              <a:pPr/>
              <a:t>13.09.2013</a:t>
            </a:fld>
            <a:endParaRPr lang="ru-RU"/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8002F4FB-5C46-4ECD-AB1E-31CEBCF8EED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7" name="Содержимое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5" name="Дата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B0E2-D85A-4291-9AD2-4076A4952F2E}" type="datetimeFigureOut">
              <a:rPr lang="ru-RU" smtClean="0"/>
              <a:pPr/>
              <a:t>13.09.2013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8002F4FB-5C46-4ECD-AB1E-31CEBCF8EED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Текст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9" name="Дата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B0E2-D85A-4291-9AD2-4076A4952F2E}" type="datetimeFigureOut">
              <a:rPr lang="ru-RU" smtClean="0"/>
              <a:pPr/>
              <a:t>13.09.2013</a:t>
            </a:fld>
            <a:endParaRPr lang="ru-RU"/>
          </a:p>
        </p:txBody>
      </p:sp>
      <p:sp>
        <p:nvSpPr>
          <p:cNvPr id="11" name="Нижний колонтитул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2F4FB-5C46-4ECD-AB1E-31CEBCF8EED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4" name="Содержимое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B0E2-D85A-4291-9AD2-4076A4952F2E}" type="datetimeFigureOut">
              <a:rPr lang="ru-RU" smtClean="0"/>
              <a:pPr/>
              <a:t>13.09.2013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Номер слайда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2F4FB-5C46-4ECD-AB1E-31CEBCF8EED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Заголовок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25" name="Текст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8" name="Содержимое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B0E2-D85A-4291-9AD2-4076A4952F2E}" type="datetimeFigureOut">
              <a:rPr lang="ru-RU" smtClean="0"/>
              <a:pPr/>
              <a:t>13.09.2013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8002F4FB-5C46-4ECD-AB1E-31CEBCF8EED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Заголовок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Дата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B0E2-D85A-4291-9AD2-4076A4952F2E}" type="datetimeFigureOut">
              <a:rPr lang="ru-RU" smtClean="0"/>
              <a:pPr/>
              <a:t>13.09.2013</a:t>
            </a:fld>
            <a:endParaRPr lang="ru-RU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2F4FB-5C46-4ECD-AB1E-31CEBCF8EED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B0E2-D85A-4291-9AD2-4076A4952F2E}" type="datetimeFigureOut">
              <a:rPr lang="ru-RU" smtClean="0"/>
              <a:pPr/>
              <a:t>13.09.2013</a:t>
            </a:fld>
            <a:endParaRPr lang="ru-RU"/>
          </a:p>
        </p:txBody>
      </p:sp>
      <p:sp>
        <p:nvSpPr>
          <p:cNvPr id="24" name="Нижний колонтитул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2F4FB-5C46-4ECD-AB1E-31CEBCF8EED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Заголовок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6" name="Текст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4" name="Содержимое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5" name="Дата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B0E2-D85A-4291-9AD2-4076A4952F2E}" type="datetimeFigureOut">
              <a:rPr lang="ru-RU" smtClean="0"/>
              <a:pPr/>
              <a:t>13.09.2013</a:t>
            </a:fld>
            <a:endParaRPr lang="ru-RU"/>
          </a:p>
        </p:txBody>
      </p:sp>
      <p:sp>
        <p:nvSpPr>
          <p:cNvPr id="29" name="Нижний колонтитул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2F4FB-5C46-4ECD-AB1E-31CEBCF8EED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B0E2-D85A-4291-9AD2-4076A4952F2E}" type="datetimeFigureOut">
              <a:rPr lang="ru-RU" smtClean="0"/>
              <a:pPr/>
              <a:t>13.09.2013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Номер слайда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2F4FB-5C46-4ECD-AB1E-31CEBCF8EED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6" name="Текст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B0E2-D85A-4291-9AD2-4076A4952F2E}" type="datetimeFigureOut">
              <a:rPr lang="ru-RU" smtClean="0"/>
              <a:pPr/>
              <a:t>13.09.2013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2F4FB-5C46-4ECD-AB1E-31CEBCF8EED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B0E2-D85A-4291-9AD2-4076A4952F2E}" type="datetimeFigureOut">
              <a:rPr lang="ru-RU" smtClean="0"/>
              <a:pPr/>
              <a:t>13.09.2013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2F4FB-5C46-4ECD-AB1E-31CEBCF8EED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Текст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1" name="Дата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17B7B0E2-D85A-4291-9AD2-4076A4952F2E}" type="datetimeFigureOut">
              <a:rPr lang="ru-RU" smtClean="0"/>
              <a:pPr/>
              <a:t>13.09.2013</a:t>
            </a:fld>
            <a:endParaRPr lang="ru-RU"/>
          </a:p>
        </p:txBody>
      </p:sp>
      <p:sp>
        <p:nvSpPr>
          <p:cNvPr id="28" name="Нижний колонтитул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8002F4FB-5C46-4ECD-AB1E-31CEBCF8EED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Заголовок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 spd="slow">
    <p:random/>
  </p:transition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wmf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WordArt 4"/>
          <p:cNvSpPr>
            <a:spLocks noChangeArrowheads="1" noChangeShapeType="1" noTextEdit="1"/>
          </p:cNvSpPr>
          <p:nvPr/>
        </p:nvSpPr>
        <p:spPr bwMode="auto">
          <a:xfrm>
            <a:off x="500034" y="1071546"/>
            <a:ext cx="8501122" cy="4286280"/>
          </a:xfrm>
          <a:prstGeom prst="rect">
            <a:avLst/>
          </a:prstGeom>
        </p:spPr>
        <p:txBody>
          <a:bodyPr wrap="none" fromWordArt="1">
            <a:prstTxWarp prst="textCanDown">
              <a:avLst>
                <a:gd name="adj" fmla="val 21025"/>
              </a:avLst>
            </a:prstTxWarp>
          </a:bodyPr>
          <a:lstStyle/>
          <a:p>
            <a:pPr algn="ctr" rtl="0"/>
            <a:r>
              <a:rPr lang="ru-RU" sz="3600" kern="10" spc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effectLst/>
                <a:latin typeface="Times New Roman"/>
                <a:cs typeface="Times New Roman"/>
              </a:rPr>
              <a:t>«Методика использования раздаточного </a:t>
            </a:r>
          </a:p>
          <a:p>
            <a:pPr algn="ctr" rtl="0"/>
            <a:r>
              <a:rPr lang="ru-RU" sz="3600" kern="10" spc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effectLst/>
                <a:latin typeface="Times New Roman"/>
                <a:cs typeface="Times New Roman"/>
              </a:rPr>
              <a:t>материала в подготовительный период».</a:t>
            </a:r>
            <a:endParaRPr lang="ru-RU" sz="3600" kern="10" spc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effectLst/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8915" name="WordArt 3"/>
          <p:cNvSpPr>
            <a:spLocks noChangeArrowheads="1" noChangeShapeType="1" noTextEdit="1"/>
          </p:cNvSpPr>
          <p:nvPr/>
        </p:nvSpPr>
        <p:spPr bwMode="auto">
          <a:xfrm>
            <a:off x="642910" y="0"/>
            <a:ext cx="8501090" cy="1643050"/>
          </a:xfrm>
          <a:prstGeom prst="rect">
            <a:avLst/>
          </a:prstGeom>
        </p:spPr>
        <p:txBody>
          <a:bodyPr wrap="none" fromWordArt="1">
            <a:prstTxWarp prst="textFadeUp">
              <a:avLst>
                <a:gd name="adj" fmla="val 6406"/>
              </a:avLst>
            </a:prstTxWarp>
          </a:bodyPr>
          <a:lstStyle/>
          <a:p>
            <a:pPr algn="ctr" rtl="0"/>
            <a:r>
              <a:rPr lang="ru-RU" sz="3600" kern="10" spc="0" dirty="0" smtClean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520402"/>
                    </a:gs>
                    <a:gs pos="100000">
                      <a:srgbClr val="FFCC00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Arial Black"/>
              </a:rPr>
              <a:t>Применение раздаточного материала</a:t>
            </a:r>
            <a:endParaRPr lang="en-US" sz="3600" kern="10" spc="0" dirty="0" smtClean="0">
              <a:ln w="12700">
                <a:solidFill>
                  <a:srgbClr val="B2B2B2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520402"/>
                  </a:gs>
                  <a:gs pos="100000">
                    <a:srgbClr val="FFCC00"/>
                  </a:gs>
                </a:gsLst>
                <a:lin ang="5400000" scaled="1"/>
              </a:gradFill>
              <a:effectLst>
                <a:outerShdw dist="35921" dir="2700000" sy="50000" rotWithShape="0">
                  <a:srgbClr val="875B0D">
                    <a:alpha val="70000"/>
                  </a:srgbClr>
                </a:outerShdw>
              </a:effectLst>
              <a:latin typeface="Arial Black"/>
            </a:endParaRPr>
          </a:p>
          <a:p>
            <a:pPr algn="ctr" rtl="0"/>
            <a:r>
              <a:rPr lang="ru-RU" sz="3600" kern="10" spc="0" dirty="0" smtClean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520402"/>
                    </a:gs>
                    <a:gs pos="100000">
                      <a:srgbClr val="FFCC00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Arial Black"/>
              </a:rPr>
              <a:t> на уроке</a:t>
            </a:r>
            <a:endParaRPr lang="ru-RU" sz="3600" kern="10" spc="0" dirty="0">
              <a:ln w="12700">
                <a:solidFill>
                  <a:srgbClr val="B2B2B2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520402"/>
                  </a:gs>
                  <a:gs pos="100000">
                    <a:srgbClr val="FFCC00"/>
                  </a:gs>
                </a:gsLst>
                <a:lin ang="5400000" scaled="1"/>
              </a:gradFill>
              <a:effectLst>
                <a:outerShdw dist="35921" dir="2700000" sy="50000" rotWithShape="0">
                  <a:srgbClr val="875B0D">
                    <a:alpha val="70000"/>
                  </a:srgbClr>
                </a:outerShdw>
              </a:effectLst>
              <a:latin typeface="Arial Black"/>
            </a:endParaRP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162631" y="1348800"/>
            <a:ext cx="8981369" cy="550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помогает разнообразить задания </a:t>
            </a:r>
            <a:endParaRPr kumimoji="0" 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позволяет дать несколько вариантов заданий, 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r>
              <a:rPr kumimoji="0" 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которые можно дифференцировать</a:t>
            </a:r>
            <a:endParaRPr kumimoji="0" 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позволяет эффективнее проводить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r>
              <a:rPr kumimoji="0" 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индивидуальную работу </a:t>
            </a:r>
            <a:endParaRPr kumimoji="0" 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экономит время и позволяет добиться большей 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r>
              <a:rPr kumimoji="0" 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плотности занятия </a:t>
            </a:r>
            <a:endParaRPr kumimoji="0" 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создаются более комфортные условия для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r>
              <a:rPr kumimoji="0" 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детей на уроке </a:t>
            </a:r>
            <a:endParaRPr kumimoji="0" 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позволяет оценить работу каждого ученика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r>
              <a:rPr kumimoji="0" 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на уроке.</a:t>
            </a:r>
            <a:endParaRPr kumimoji="0" 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/>
      <p:bldP spid="389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2231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3" name="Овал 12"/>
          <p:cNvSpPr/>
          <p:nvPr/>
        </p:nvSpPr>
        <p:spPr>
          <a:xfrm>
            <a:off x="357158" y="1142984"/>
            <a:ext cx="1643074" cy="1714512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14" name="Овал 13"/>
          <p:cNvSpPr/>
          <p:nvPr/>
        </p:nvSpPr>
        <p:spPr>
          <a:xfrm>
            <a:off x="500034" y="3571876"/>
            <a:ext cx="1643074" cy="171451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2500298" y="1643050"/>
            <a:ext cx="6518130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800" dirty="0"/>
              <a:t>Сигнальная карточка для </a:t>
            </a:r>
            <a:r>
              <a:rPr lang="ru-RU" sz="2800" dirty="0" smtClean="0"/>
              <a:t>обозначения</a:t>
            </a:r>
            <a:endParaRPr lang="en-US" sz="2800" dirty="0" smtClean="0"/>
          </a:p>
          <a:p>
            <a:pPr algn="ctr"/>
            <a:r>
              <a:rPr lang="ru-RU" sz="2800" dirty="0" smtClean="0"/>
              <a:t> </a:t>
            </a:r>
            <a:r>
              <a:rPr lang="ru-RU" sz="2800" dirty="0"/>
              <a:t>правильного ответа</a:t>
            </a:r>
            <a:endParaRPr lang="ru-RU" sz="2800" b="1" cap="none" spc="5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2625870" y="4071942"/>
            <a:ext cx="6518130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800" dirty="0"/>
              <a:t>Сигнальная карточка для </a:t>
            </a:r>
            <a:r>
              <a:rPr lang="ru-RU" sz="2800" dirty="0" smtClean="0"/>
              <a:t>обозначения</a:t>
            </a:r>
            <a:endParaRPr lang="en-US" sz="2800" dirty="0" smtClean="0"/>
          </a:p>
          <a:p>
            <a:pPr algn="ctr"/>
            <a:r>
              <a:rPr lang="ru-RU" sz="2800" dirty="0" smtClean="0"/>
              <a:t> неправильного </a:t>
            </a:r>
            <a:r>
              <a:rPr lang="ru-RU" sz="2800" dirty="0"/>
              <a:t>ответа</a:t>
            </a:r>
            <a:endParaRPr lang="ru-RU" sz="2800" b="1" cap="none" spc="5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</a:endParaRPr>
          </a:p>
        </p:txBody>
      </p:sp>
      <p:sp>
        <p:nvSpPr>
          <p:cNvPr id="52234" name="WordArt 10"/>
          <p:cNvSpPr>
            <a:spLocks noChangeArrowheads="1" noChangeShapeType="1" noTextEdit="1"/>
          </p:cNvSpPr>
          <p:nvPr/>
        </p:nvSpPr>
        <p:spPr bwMode="auto">
          <a:xfrm>
            <a:off x="2000232" y="0"/>
            <a:ext cx="5460996" cy="1428736"/>
          </a:xfrm>
          <a:prstGeom prst="rect">
            <a:avLst/>
          </a:prstGeom>
        </p:spPr>
        <p:txBody>
          <a:bodyPr wrap="none" fromWordArt="1">
            <a:prstTxWarp prst="textFadeUp">
              <a:avLst>
                <a:gd name="adj" fmla="val 9991"/>
              </a:avLst>
            </a:prstTxWarp>
          </a:bodyPr>
          <a:lstStyle/>
          <a:p>
            <a:pPr algn="ctr" rtl="0"/>
            <a:r>
              <a:rPr lang="ru-RU" sz="3600" kern="10" spc="0" smtClean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520402"/>
                    </a:gs>
                    <a:gs pos="100000">
                      <a:srgbClr val="FFCC00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Arial Black"/>
              </a:rPr>
              <a:t>Сигнальные карточки</a:t>
            </a:r>
            <a:endParaRPr lang="ru-RU" sz="3600" kern="10" spc="0">
              <a:ln w="12700">
                <a:solidFill>
                  <a:srgbClr val="B2B2B2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520402"/>
                  </a:gs>
                  <a:gs pos="100000">
                    <a:srgbClr val="FFCC00"/>
                  </a:gs>
                </a:gsLst>
                <a:lin ang="5400000" scaled="1"/>
              </a:gradFill>
              <a:effectLst>
                <a:outerShdw dist="35921" dir="2700000" sy="50000" rotWithShape="0">
                  <a:srgbClr val="875B0D">
                    <a:alpha val="70000"/>
                  </a:srgbClr>
                </a:outerShdw>
              </a:effectLst>
              <a:latin typeface="Arial Black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" name="Рисунок 5" descr="hpim0410_0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1357298"/>
            <a:ext cx="2000264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Прямоугольник 7"/>
          <p:cNvSpPr/>
          <p:nvPr/>
        </p:nvSpPr>
        <p:spPr>
          <a:xfrm>
            <a:off x="571472" y="0"/>
            <a:ext cx="79097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/>
            </a:scene3d>
            <a:sp3d contourW="19050" prstMaterial="clear">
              <a:bevelT w="50800" h="50800"/>
              <a:contourClr>
                <a:schemeClr val="accent5">
                  <a:tint val="70000"/>
                  <a:satMod val="180000"/>
                  <a:alpha val="70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/>
                <a:solidFill>
                  <a:srgbClr val="FF0000"/>
                </a:solidFill>
                <a:effectLst/>
              </a:rPr>
              <a:t>Математический магазин</a:t>
            </a:r>
            <a:endParaRPr lang="ru-RU" sz="5400" b="1" cap="none" spc="0" dirty="0">
              <a:ln/>
              <a:solidFill>
                <a:srgbClr val="FF0000"/>
              </a:solidFill>
              <a:effectLst/>
            </a:endParaRPr>
          </a:p>
        </p:txBody>
      </p:sp>
      <p:pic>
        <p:nvPicPr>
          <p:cNvPr id="9" name="Рисунок 8" descr="sova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72132" y="1357298"/>
            <a:ext cx="1992401" cy="1959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Прямоугольник 9"/>
          <p:cNvSpPr/>
          <p:nvPr/>
        </p:nvSpPr>
        <p:spPr>
          <a:xfrm>
            <a:off x="1285852" y="3357562"/>
            <a:ext cx="171451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cap="none" spc="0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3+7=</a:t>
            </a:r>
            <a:endParaRPr lang="ru-RU" sz="3600" b="1" cap="none" spc="0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6072198" y="3286124"/>
            <a:ext cx="117211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600" b="1" cap="none" spc="0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6+2=</a:t>
            </a:r>
            <a:endParaRPr lang="ru-RU" sz="3600" b="1" cap="none" spc="0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  <p:pic>
        <p:nvPicPr>
          <p:cNvPr id="12" name="Рисунок 11" descr="99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85852" y="4071942"/>
            <a:ext cx="1926116" cy="2198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Рисунок 12" descr="FD00459_"/>
          <p:cNvPicPr/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929322" y="3929066"/>
            <a:ext cx="1571636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Прямоугольник 13"/>
          <p:cNvSpPr/>
          <p:nvPr/>
        </p:nvSpPr>
        <p:spPr>
          <a:xfrm>
            <a:off x="1357290" y="6211669"/>
            <a:ext cx="171451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cap="none" spc="0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5+3=</a:t>
            </a:r>
            <a:endParaRPr lang="ru-RU" sz="3600" b="1" cap="none" spc="0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5857884" y="6211669"/>
            <a:ext cx="171451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cap="none" spc="0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4+3=</a:t>
            </a:r>
            <a:endParaRPr lang="ru-RU" sz="3600" b="1" cap="none" spc="0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" name="Рисунок 5" descr="TN00687_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785794"/>
            <a:ext cx="2560864" cy="2173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Рисунок 6" descr="J0382960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3504" y="571480"/>
            <a:ext cx="2786082" cy="2428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Прямоугольник 7"/>
          <p:cNvSpPr/>
          <p:nvPr/>
        </p:nvSpPr>
        <p:spPr>
          <a:xfrm>
            <a:off x="1285852" y="3071810"/>
            <a:ext cx="14702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0000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7-2=</a:t>
            </a:r>
            <a:endParaRPr lang="ru-RU" sz="5400" b="1" cap="none" spc="0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0000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786446" y="3071810"/>
            <a:ext cx="15584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0000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8-6=</a:t>
            </a:r>
            <a:endParaRPr lang="ru-RU" sz="5400" b="1" cap="none" spc="0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0000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 descr="мишка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480" y="1500174"/>
            <a:ext cx="1433696" cy="2000264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</p:spPr>
      </p:pic>
      <p:pic>
        <p:nvPicPr>
          <p:cNvPr id="5" name="Рисунок 4" descr="лягушка"/>
          <p:cNvPicPr/>
          <p:nvPr/>
        </p:nvPicPr>
        <p:blipFill>
          <a:blip r:embed="rId3" cstate="print"/>
          <a:srcRect l="32237" t="35741"/>
          <a:stretch>
            <a:fillRect/>
          </a:stretch>
        </p:blipFill>
        <p:spPr bwMode="auto">
          <a:xfrm>
            <a:off x="1785918" y="4000504"/>
            <a:ext cx="1500198" cy="1928826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</p:spPr>
      </p:pic>
      <p:pic>
        <p:nvPicPr>
          <p:cNvPr id="6" name="Рисунок 5" descr="цыпленок"/>
          <p:cNvPicPr/>
          <p:nvPr/>
        </p:nvPicPr>
        <p:blipFill>
          <a:blip r:embed="rId4" cstate="print"/>
          <a:srcRect r="28629" b="27530"/>
          <a:stretch>
            <a:fillRect/>
          </a:stretch>
        </p:blipFill>
        <p:spPr bwMode="auto">
          <a:xfrm>
            <a:off x="6286512" y="4000504"/>
            <a:ext cx="1428760" cy="1928826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</p:spPr>
      </p:pic>
      <p:pic>
        <p:nvPicPr>
          <p:cNvPr id="7" name="Рисунок 6" descr="мишка2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86512" y="1285860"/>
            <a:ext cx="1311956" cy="2143140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8" name="Прямоугольник 7"/>
          <p:cNvSpPr/>
          <p:nvPr/>
        </p:nvSpPr>
        <p:spPr>
          <a:xfrm>
            <a:off x="1071538" y="285728"/>
            <a:ext cx="69840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Сказочные персонажи</a:t>
            </a:r>
            <a:endParaRPr lang="ru-RU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AutoShape 2"/>
          <p:cNvSpPr>
            <a:spLocks noChangeArrowheads="1"/>
          </p:cNvSpPr>
          <p:nvPr/>
        </p:nvSpPr>
        <p:spPr bwMode="auto">
          <a:xfrm>
            <a:off x="1222386" y="1214422"/>
            <a:ext cx="542925" cy="1303337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251" name="AutoShape 3"/>
          <p:cNvSpPr>
            <a:spLocks noChangeArrowheads="1"/>
          </p:cNvSpPr>
          <p:nvPr/>
        </p:nvSpPr>
        <p:spPr bwMode="auto">
          <a:xfrm>
            <a:off x="1836749" y="1214422"/>
            <a:ext cx="542925" cy="1303337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252" name="AutoShape 4"/>
          <p:cNvSpPr>
            <a:spLocks noChangeArrowheads="1"/>
          </p:cNvSpPr>
          <p:nvPr/>
        </p:nvSpPr>
        <p:spPr bwMode="auto">
          <a:xfrm>
            <a:off x="2452699" y="1214422"/>
            <a:ext cx="542925" cy="1303337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253" name="AutoShape 5"/>
          <p:cNvSpPr>
            <a:spLocks noChangeArrowheads="1"/>
          </p:cNvSpPr>
          <p:nvPr/>
        </p:nvSpPr>
        <p:spPr bwMode="auto">
          <a:xfrm>
            <a:off x="3067061" y="1214422"/>
            <a:ext cx="542925" cy="1303337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254" name="AutoShape 6"/>
          <p:cNvSpPr>
            <a:spLocks noChangeArrowheads="1"/>
          </p:cNvSpPr>
          <p:nvPr/>
        </p:nvSpPr>
        <p:spPr bwMode="auto">
          <a:xfrm>
            <a:off x="3683011" y="1214422"/>
            <a:ext cx="542925" cy="1303337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255" name="AutoShape 7"/>
          <p:cNvSpPr>
            <a:spLocks noChangeArrowheads="1"/>
          </p:cNvSpPr>
          <p:nvPr/>
        </p:nvSpPr>
        <p:spPr bwMode="auto">
          <a:xfrm>
            <a:off x="4298961" y="1214422"/>
            <a:ext cx="542925" cy="1303337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256" name="AutoShape 8"/>
          <p:cNvSpPr>
            <a:spLocks noChangeArrowheads="1"/>
          </p:cNvSpPr>
          <p:nvPr/>
        </p:nvSpPr>
        <p:spPr bwMode="auto">
          <a:xfrm>
            <a:off x="4913324" y="1214422"/>
            <a:ext cx="542925" cy="1303337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257" name="AutoShape 9"/>
          <p:cNvSpPr>
            <a:spLocks noChangeArrowheads="1"/>
          </p:cNvSpPr>
          <p:nvPr/>
        </p:nvSpPr>
        <p:spPr bwMode="auto">
          <a:xfrm>
            <a:off x="5529274" y="1214422"/>
            <a:ext cx="542925" cy="1303337"/>
          </a:xfrm>
          <a:prstGeom prst="triangle">
            <a:avLst>
              <a:gd name="adj" fmla="val 50000"/>
            </a:avLst>
          </a:prstGeom>
          <a:solidFill>
            <a:srgbClr val="FFCC00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258" name="AutoShape 10"/>
          <p:cNvSpPr>
            <a:spLocks noChangeArrowheads="1"/>
          </p:cNvSpPr>
          <p:nvPr/>
        </p:nvSpPr>
        <p:spPr bwMode="auto">
          <a:xfrm>
            <a:off x="6143636" y="1214422"/>
            <a:ext cx="542925" cy="1303337"/>
          </a:xfrm>
          <a:prstGeom prst="triangle">
            <a:avLst>
              <a:gd name="adj" fmla="val 50000"/>
            </a:avLst>
          </a:prstGeom>
          <a:solidFill>
            <a:srgbClr val="FFCC00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259" name="AutoShape 11"/>
          <p:cNvSpPr>
            <a:spLocks noChangeArrowheads="1"/>
          </p:cNvSpPr>
          <p:nvPr/>
        </p:nvSpPr>
        <p:spPr bwMode="auto">
          <a:xfrm>
            <a:off x="6759586" y="1214422"/>
            <a:ext cx="542925" cy="1303337"/>
          </a:xfrm>
          <a:prstGeom prst="triangle">
            <a:avLst>
              <a:gd name="adj" fmla="val 50000"/>
            </a:avLst>
          </a:prstGeom>
          <a:solidFill>
            <a:srgbClr val="FFCC00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260" name="AutoShape 12"/>
          <p:cNvSpPr>
            <a:spLocks noChangeArrowheads="1"/>
          </p:cNvSpPr>
          <p:nvPr/>
        </p:nvSpPr>
        <p:spPr bwMode="auto">
          <a:xfrm>
            <a:off x="1209673" y="3857628"/>
            <a:ext cx="542925" cy="1301750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261" name="AutoShape 13"/>
          <p:cNvSpPr>
            <a:spLocks noChangeArrowheads="1"/>
          </p:cNvSpPr>
          <p:nvPr/>
        </p:nvSpPr>
        <p:spPr bwMode="auto">
          <a:xfrm>
            <a:off x="1824036" y="3857628"/>
            <a:ext cx="542925" cy="1301750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262" name="AutoShape 14"/>
          <p:cNvSpPr>
            <a:spLocks noChangeArrowheads="1"/>
          </p:cNvSpPr>
          <p:nvPr/>
        </p:nvSpPr>
        <p:spPr bwMode="auto">
          <a:xfrm>
            <a:off x="2439986" y="3857628"/>
            <a:ext cx="542925" cy="1301750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263" name="AutoShape 15"/>
          <p:cNvSpPr>
            <a:spLocks noChangeArrowheads="1"/>
          </p:cNvSpPr>
          <p:nvPr/>
        </p:nvSpPr>
        <p:spPr bwMode="auto">
          <a:xfrm>
            <a:off x="3054348" y="3857628"/>
            <a:ext cx="542925" cy="1301750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264" name="AutoShape 16"/>
          <p:cNvSpPr>
            <a:spLocks noChangeArrowheads="1"/>
          </p:cNvSpPr>
          <p:nvPr/>
        </p:nvSpPr>
        <p:spPr bwMode="auto">
          <a:xfrm>
            <a:off x="3670298" y="3857628"/>
            <a:ext cx="542925" cy="1301750"/>
          </a:xfrm>
          <a:prstGeom prst="triangle">
            <a:avLst>
              <a:gd name="adj" fmla="val 50000"/>
            </a:avLst>
          </a:prstGeom>
          <a:solidFill>
            <a:srgbClr val="FFCC00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265" name="AutoShape 17"/>
          <p:cNvSpPr>
            <a:spLocks noChangeArrowheads="1"/>
          </p:cNvSpPr>
          <p:nvPr/>
        </p:nvSpPr>
        <p:spPr bwMode="auto">
          <a:xfrm>
            <a:off x="4286248" y="3857628"/>
            <a:ext cx="542925" cy="1301750"/>
          </a:xfrm>
          <a:prstGeom prst="triangle">
            <a:avLst>
              <a:gd name="adj" fmla="val 50000"/>
            </a:avLst>
          </a:prstGeom>
          <a:solidFill>
            <a:srgbClr val="FFCC00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266" name="AutoShape 18"/>
          <p:cNvSpPr>
            <a:spLocks noChangeArrowheads="1"/>
          </p:cNvSpPr>
          <p:nvPr/>
        </p:nvSpPr>
        <p:spPr bwMode="auto">
          <a:xfrm>
            <a:off x="4900611" y="3857628"/>
            <a:ext cx="542925" cy="1301750"/>
          </a:xfrm>
          <a:prstGeom prst="triangle">
            <a:avLst>
              <a:gd name="adj" fmla="val 50000"/>
            </a:avLst>
          </a:prstGeom>
          <a:solidFill>
            <a:srgbClr val="FFCC00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267" name="AutoShape 19"/>
          <p:cNvSpPr>
            <a:spLocks noChangeArrowheads="1"/>
          </p:cNvSpPr>
          <p:nvPr/>
        </p:nvSpPr>
        <p:spPr bwMode="auto">
          <a:xfrm>
            <a:off x="5516561" y="3857628"/>
            <a:ext cx="542925" cy="1301750"/>
          </a:xfrm>
          <a:prstGeom prst="triangle">
            <a:avLst>
              <a:gd name="adj" fmla="val 50000"/>
            </a:avLst>
          </a:prstGeom>
          <a:solidFill>
            <a:srgbClr val="FFCC00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268" name="AutoShape 20"/>
          <p:cNvSpPr>
            <a:spLocks noChangeArrowheads="1"/>
          </p:cNvSpPr>
          <p:nvPr/>
        </p:nvSpPr>
        <p:spPr bwMode="auto">
          <a:xfrm>
            <a:off x="6130923" y="3857628"/>
            <a:ext cx="542925" cy="1301750"/>
          </a:xfrm>
          <a:prstGeom prst="triangle">
            <a:avLst>
              <a:gd name="adj" fmla="val 50000"/>
            </a:avLst>
          </a:prstGeom>
          <a:solidFill>
            <a:srgbClr val="FFCC00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3269" name="AutoShape 21"/>
          <p:cNvSpPr>
            <a:spLocks noChangeArrowheads="1"/>
          </p:cNvSpPr>
          <p:nvPr/>
        </p:nvSpPr>
        <p:spPr bwMode="auto">
          <a:xfrm>
            <a:off x="6746873" y="3857628"/>
            <a:ext cx="542925" cy="1301750"/>
          </a:xfrm>
          <a:prstGeom prst="triangle">
            <a:avLst>
              <a:gd name="adj" fmla="val 50000"/>
            </a:avLst>
          </a:prstGeom>
          <a:solidFill>
            <a:srgbClr val="FFCC00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4" name="Прямоугольник 23"/>
          <p:cNvSpPr/>
          <p:nvPr/>
        </p:nvSpPr>
        <p:spPr>
          <a:xfrm>
            <a:off x="2643174" y="142852"/>
            <a:ext cx="26053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10=7+3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2643174" y="2714620"/>
            <a:ext cx="26053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10=4+6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3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3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3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3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32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32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32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32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3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3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3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3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3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3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3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3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3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32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32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326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3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3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3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32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3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3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3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32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3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3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53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5326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3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53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3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326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3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53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3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532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3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53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53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5326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3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53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53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5326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3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53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53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326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3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 animBg="1"/>
      <p:bldP spid="53251" grpId="0" animBg="1"/>
      <p:bldP spid="53252" grpId="0" animBg="1"/>
      <p:bldP spid="53253" grpId="0" animBg="1"/>
      <p:bldP spid="53254" grpId="0" animBg="1"/>
      <p:bldP spid="53255" grpId="0" animBg="1"/>
      <p:bldP spid="53256" grpId="0" animBg="1"/>
      <p:bldP spid="53257" grpId="0" animBg="1"/>
      <p:bldP spid="53258" grpId="0" animBg="1"/>
      <p:bldP spid="53259" grpId="0" animBg="1"/>
      <p:bldP spid="53260" grpId="0" animBg="1"/>
      <p:bldP spid="53261" grpId="0" animBg="1"/>
      <p:bldP spid="53262" grpId="0" animBg="1"/>
      <p:bldP spid="53263" grpId="0" animBg="1"/>
      <p:bldP spid="53264" grpId="0" animBg="1"/>
      <p:bldP spid="53265" grpId="0" animBg="1"/>
      <p:bldP spid="53266" grpId="0" animBg="1"/>
      <p:bldP spid="53267" grpId="0" animBg="1"/>
      <p:bldP spid="53268" grpId="0" animBg="1"/>
      <p:bldP spid="53269" grpId="0" animBg="1"/>
      <p:bldP spid="24" grpId="0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42910" y="2071678"/>
            <a:ext cx="1500198" cy="4786322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42910" y="2928934"/>
            <a:ext cx="1500198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>
            <a:off x="642910" y="3857628"/>
            <a:ext cx="1500198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642910" y="4714884"/>
            <a:ext cx="1500198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642910" y="5500702"/>
            <a:ext cx="1500198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642910" y="6215082"/>
            <a:ext cx="1500198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>
            <a:stCxn id="2" idx="0"/>
            <a:endCxn id="2" idx="2"/>
          </p:cNvCxnSpPr>
          <p:nvPr/>
        </p:nvCxnSpPr>
        <p:spPr>
          <a:xfrm rot="16200000" flipH="1">
            <a:off x="-1000152" y="4464839"/>
            <a:ext cx="478632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Равнобедренный треугольник 12"/>
          <p:cNvSpPr/>
          <p:nvPr/>
        </p:nvSpPr>
        <p:spPr>
          <a:xfrm>
            <a:off x="571472" y="857232"/>
            <a:ext cx="1643074" cy="1214446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928662" y="1142984"/>
            <a:ext cx="9766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10</a:t>
            </a:r>
            <a:endParaRPr lang="ru-RU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714348" y="2071678"/>
            <a:ext cx="5511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2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1500166" y="2000240"/>
            <a:ext cx="5511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8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1500166" y="3000372"/>
            <a:ext cx="5511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9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1500166" y="3857628"/>
            <a:ext cx="5511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6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714348" y="3857628"/>
            <a:ext cx="5511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4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714348" y="2928934"/>
            <a:ext cx="5511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1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714348" y="5357826"/>
            <a:ext cx="5511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6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714348" y="4643446"/>
            <a:ext cx="5511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5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4" name="Прямоугольник 23"/>
          <p:cNvSpPr/>
          <p:nvPr/>
        </p:nvSpPr>
        <p:spPr>
          <a:xfrm>
            <a:off x="1500166" y="5357826"/>
            <a:ext cx="5511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4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1500166" y="4714884"/>
            <a:ext cx="5511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5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714348" y="6072206"/>
            <a:ext cx="5511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3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7" name="Прямоугольник 26"/>
          <p:cNvSpPr/>
          <p:nvPr/>
        </p:nvSpPr>
        <p:spPr>
          <a:xfrm>
            <a:off x="1500166" y="6072206"/>
            <a:ext cx="5511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7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8" name="Прямоугольник 27"/>
          <p:cNvSpPr/>
          <p:nvPr/>
        </p:nvSpPr>
        <p:spPr>
          <a:xfrm>
            <a:off x="3286116" y="2648522"/>
            <a:ext cx="1500198" cy="414340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9" name="Прямая соединительная линия 28"/>
          <p:cNvCxnSpPr/>
          <p:nvPr/>
        </p:nvCxnSpPr>
        <p:spPr>
          <a:xfrm>
            <a:off x="3286116" y="3505778"/>
            <a:ext cx="1500198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/>
          <p:nvPr/>
        </p:nvCxnSpPr>
        <p:spPr>
          <a:xfrm>
            <a:off x="3286116" y="4434472"/>
            <a:ext cx="1500198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/>
          <p:nvPr/>
        </p:nvCxnSpPr>
        <p:spPr>
          <a:xfrm>
            <a:off x="3286116" y="5291728"/>
            <a:ext cx="1500198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/>
          <p:nvPr/>
        </p:nvCxnSpPr>
        <p:spPr>
          <a:xfrm>
            <a:off x="3286116" y="6077546"/>
            <a:ext cx="1500198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/>
        </p:nvCxnSpPr>
        <p:spPr>
          <a:xfrm>
            <a:off x="3286116" y="6791926"/>
            <a:ext cx="1500198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>
            <a:stCxn id="28" idx="0"/>
            <a:endCxn id="28" idx="2"/>
          </p:cNvCxnSpPr>
          <p:nvPr/>
        </p:nvCxnSpPr>
        <p:spPr>
          <a:xfrm rot="16200000" flipH="1">
            <a:off x="1964513" y="4720224"/>
            <a:ext cx="4143404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Равнобедренный треугольник 34"/>
          <p:cNvSpPr/>
          <p:nvPr/>
        </p:nvSpPr>
        <p:spPr>
          <a:xfrm>
            <a:off x="3214678" y="1428736"/>
            <a:ext cx="1643074" cy="1214446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 35"/>
          <p:cNvSpPr/>
          <p:nvPr/>
        </p:nvSpPr>
        <p:spPr>
          <a:xfrm>
            <a:off x="3714744" y="1714488"/>
            <a:ext cx="591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7</a:t>
            </a:r>
            <a:endParaRPr lang="ru-RU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37" name="Прямоугольник 36"/>
          <p:cNvSpPr/>
          <p:nvPr/>
        </p:nvSpPr>
        <p:spPr>
          <a:xfrm>
            <a:off x="3357554" y="2648522"/>
            <a:ext cx="5511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1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38" name="Прямоугольник 37"/>
          <p:cNvSpPr/>
          <p:nvPr/>
        </p:nvSpPr>
        <p:spPr>
          <a:xfrm>
            <a:off x="4143372" y="2577084"/>
            <a:ext cx="5511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6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39" name="Прямоугольник 38"/>
          <p:cNvSpPr/>
          <p:nvPr/>
        </p:nvSpPr>
        <p:spPr>
          <a:xfrm>
            <a:off x="4143372" y="3577216"/>
            <a:ext cx="5511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5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40" name="Прямоугольник 39"/>
          <p:cNvSpPr/>
          <p:nvPr/>
        </p:nvSpPr>
        <p:spPr>
          <a:xfrm>
            <a:off x="4143372" y="4434472"/>
            <a:ext cx="5511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4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41" name="Прямоугольник 40"/>
          <p:cNvSpPr/>
          <p:nvPr/>
        </p:nvSpPr>
        <p:spPr>
          <a:xfrm>
            <a:off x="3357554" y="4434472"/>
            <a:ext cx="5511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3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42" name="Прямоугольник 41"/>
          <p:cNvSpPr/>
          <p:nvPr/>
        </p:nvSpPr>
        <p:spPr>
          <a:xfrm>
            <a:off x="3357554" y="3505778"/>
            <a:ext cx="5511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2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43" name="Прямоугольник 42"/>
          <p:cNvSpPr/>
          <p:nvPr/>
        </p:nvSpPr>
        <p:spPr>
          <a:xfrm>
            <a:off x="3357554" y="5934670"/>
            <a:ext cx="5511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6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44" name="Прямоугольник 43"/>
          <p:cNvSpPr/>
          <p:nvPr/>
        </p:nvSpPr>
        <p:spPr>
          <a:xfrm>
            <a:off x="3357554" y="5220290"/>
            <a:ext cx="5511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5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45" name="Прямоугольник 44"/>
          <p:cNvSpPr/>
          <p:nvPr/>
        </p:nvSpPr>
        <p:spPr>
          <a:xfrm>
            <a:off x="4143372" y="5934670"/>
            <a:ext cx="5511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1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46" name="Прямоугольник 45"/>
          <p:cNvSpPr/>
          <p:nvPr/>
        </p:nvSpPr>
        <p:spPr>
          <a:xfrm>
            <a:off x="4143372" y="5291728"/>
            <a:ext cx="5511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2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47" name="Прямоугольник 46"/>
          <p:cNvSpPr/>
          <p:nvPr/>
        </p:nvSpPr>
        <p:spPr>
          <a:xfrm>
            <a:off x="6429388" y="3291464"/>
            <a:ext cx="1500198" cy="3429818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8" name="Прямая соединительная линия 47"/>
          <p:cNvCxnSpPr/>
          <p:nvPr/>
        </p:nvCxnSpPr>
        <p:spPr>
          <a:xfrm>
            <a:off x="6429388" y="4148720"/>
            <a:ext cx="1500198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/>
          <p:cNvCxnSpPr/>
          <p:nvPr/>
        </p:nvCxnSpPr>
        <p:spPr>
          <a:xfrm>
            <a:off x="6429388" y="5077414"/>
            <a:ext cx="1500198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/>
          <p:cNvCxnSpPr/>
          <p:nvPr/>
        </p:nvCxnSpPr>
        <p:spPr>
          <a:xfrm>
            <a:off x="6429388" y="5934670"/>
            <a:ext cx="1500198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/>
          <p:cNvCxnSpPr/>
          <p:nvPr/>
        </p:nvCxnSpPr>
        <p:spPr>
          <a:xfrm>
            <a:off x="6429388" y="6720488"/>
            <a:ext cx="1500198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>
            <a:stCxn id="47" idx="0"/>
            <a:endCxn id="47" idx="2"/>
          </p:cNvCxnSpPr>
          <p:nvPr/>
        </p:nvCxnSpPr>
        <p:spPr>
          <a:xfrm rot="16200000" flipH="1">
            <a:off x="5464578" y="5006373"/>
            <a:ext cx="3429818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Равнобедренный треугольник 53"/>
          <p:cNvSpPr/>
          <p:nvPr/>
        </p:nvSpPr>
        <p:spPr>
          <a:xfrm>
            <a:off x="6357950" y="2077018"/>
            <a:ext cx="1643074" cy="1214446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Прямоугольник 54"/>
          <p:cNvSpPr/>
          <p:nvPr/>
        </p:nvSpPr>
        <p:spPr>
          <a:xfrm>
            <a:off x="6858016" y="2357430"/>
            <a:ext cx="591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5</a:t>
            </a:r>
            <a:endParaRPr lang="ru-RU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56" name="Прямоугольник 55"/>
          <p:cNvSpPr/>
          <p:nvPr/>
        </p:nvSpPr>
        <p:spPr>
          <a:xfrm>
            <a:off x="6500826" y="3291464"/>
            <a:ext cx="5511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2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57" name="Прямоугольник 56"/>
          <p:cNvSpPr/>
          <p:nvPr/>
        </p:nvSpPr>
        <p:spPr>
          <a:xfrm>
            <a:off x="7286644" y="3220026"/>
            <a:ext cx="5511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3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58" name="Прямоугольник 57"/>
          <p:cNvSpPr/>
          <p:nvPr/>
        </p:nvSpPr>
        <p:spPr>
          <a:xfrm>
            <a:off x="7286644" y="4220158"/>
            <a:ext cx="5511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4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59" name="Прямоугольник 58"/>
          <p:cNvSpPr/>
          <p:nvPr/>
        </p:nvSpPr>
        <p:spPr>
          <a:xfrm>
            <a:off x="7286644" y="5077414"/>
            <a:ext cx="5511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2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60" name="Прямоугольник 59"/>
          <p:cNvSpPr/>
          <p:nvPr/>
        </p:nvSpPr>
        <p:spPr>
          <a:xfrm>
            <a:off x="6500826" y="5077414"/>
            <a:ext cx="5511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3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61" name="Прямоугольник 60"/>
          <p:cNvSpPr/>
          <p:nvPr/>
        </p:nvSpPr>
        <p:spPr>
          <a:xfrm>
            <a:off x="6500826" y="4148720"/>
            <a:ext cx="5511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1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63" name="Прямоугольник 62"/>
          <p:cNvSpPr/>
          <p:nvPr/>
        </p:nvSpPr>
        <p:spPr>
          <a:xfrm>
            <a:off x="6500826" y="5863232"/>
            <a:ext cx="5511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4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65" name="Прямоугольник 64"/>
          <p:cNvSpPr/>
          <p:nvPr/>
        </p:nvSpPr>
        <p:spPr>
          <a:xfrm>
            <a:off x="7286644" y="5934670"/>
            <a:ext cx="55118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1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5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6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1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2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4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55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56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6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6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6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6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1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72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7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7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8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8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8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8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9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95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96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9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0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0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0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11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12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1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1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2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1" grpId="0"/>
      <p:bldP spid="23" grpId="0"/>
      <p:bldP spid="24" grpId="0"/>
      <p:bldP spid="26" grpId="0"/>
      <p:bldP spid="38" grpId="0"/>
      <p:bldP spid="40" grpId="0"/>
      <p:bldP spid="42" grpId="0"/>
      <p:bldP spid="44" grpId="0"/>
      <p:bldP spid="45" grpId="0"/>
      <p:bldP spid="57" grpId="0"/>
      <p:bldP spid="59" grpId="0"/>
      <p:bldP spid="61" grpId="0"/>
      <p:bldP spid="6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0" y="-4"/>
          <a:ext cx="9143999" cy="6526618"/>
        </p:xfrm>
        <a:graphic>
          <a:graphicData uri="http://schemas.openxmlformats.org/drawingml/2006/table">
            <a:tbl>
              <a:tblPr/>
              <a:tblGrid>
                <a:gridCol w="3045770"/>
                <a:gridCol w="3046726"/>
                <a:gridCol w="3051503"/>
              </a:tblGrid>
              <a:tr h="43107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Times New Roman"/>
                          <a:cs typeface="Times New Roman"/>
                        </a:rPr>
                        <a:t>10 – 4 + 3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 – 6 + 3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 + 2 – 7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00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Times New Roman"/>
                          <a:cs typeface="Times New Roman"/>
                        </a:rPr>
                        <a:t>7 + 3 – 7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 + 4 – 8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 – 5 – 2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00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Times New Roman"/>
                          <a:cs typeface="Times New Roman"/>
                        </a:rPr>
                        <a:t>4 + 5 – 7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 + 4 – 5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 + 7 – 6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Times New Roman"/>
                          <a:cs typeface="Times New Roman"/>
                        </a:rPr>
                        <a:t>8 – 5  - 3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 – 9 + 6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 + 2 – 5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00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Times New Roman"/>
                          <a:cs typeface="Times New Roman"/>
                        </a:rPr>
                        <a:t>6 + 3 + 1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 + 1 – 5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 + 5 – 8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00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Times New Roman"/>
                          <a:cs typeface="Times New Roman"/>
                        </a:rPr>
                        <a:t>5 + 3 + 2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 – 6 + 8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 – 7 +3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00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Times New Roman"/>
                          <a:cs typeface="Times New Roman"/>
                        </a:rPr>
                        <a:t>7 – 7 + 4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 – 6 + 4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 – 5 +3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Times New Roman"/>
                          <a:cs typeface="Times New Roman"/>
                        </a:rPr>
                        <a:t>9 - 5 – 4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 – 7 – 3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 – 8 – 2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Times New Roman"/>
                          <a:cs typeface="Times New Roman"/>
                        </a:rPr>
                        <a:t>10 – 4 + 3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 – 6 + 3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 + 2 – 7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00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Times New Roman"/>
                          <a:cs typeface="Times New Roman"/>
                        </a:rPr>
                        <a:t>7 + 3 – 7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 + 4 – 8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 – 5 – 2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00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Times New Roman"/>
                          <a:cs typeface="Times New Roman"/>
                        </a:rPr>
                        <a:t>4 + 5 – 7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 + 4 – 5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 + 7 – 6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Times New Roman"/>
                          <a:cs typeface="Times New Roman"/>
                        </a:rPr>
                        <a:t>8 – 5  - 3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 – 9 + 6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 + 2 – 5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00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Times New Roman"/>
                          <a:cs typeface="Times New Roman"/>
                        </a:rPr>
                        <a:t>6 + 3 + 1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 + 1 – 5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 + 5 – 8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00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Times New Roman"/>
                          <a:cs typeface="Times New Roman"/>
                        </a:rPr>
                        <a:t>5 + 3 + 2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 – 6 + 8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 – 7 +3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00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Times New Roman"/>
                          <a:cs typeface="Times New Roman"/>
                        </a:rPr>
                        <a:t>7 – 7 + 4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 – 6 + 4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 – 5 +3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Times New Roman"/>
                          <a:cs typeface="Times New Roman"/>
                        </a:rPr>
                        <a:t>9 - 5 – 4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 – 7 – 3 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8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 – 8 – 2 =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9696" marR="496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0" y="-7"/>
          <a:ext cx="9144000" cy="6870192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  <a:gridCol w="2286000"/>
              </a:tblGrid>
              <a:tr h="4643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 dirty="0"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en-US" sz="2800" dirty="0">
                          <a:latin typeface="Times New Roman"/>
                          <a:ea typeface="Times New Roman"/>
                          <a:cs typeface="Times New Roman"/>
                        </a:rPr>
                        <a:t> 7 = </a:t>
                      </a:r>
                      <a:endParaRPr lang="ru-RU" sz="2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en-US" sz="28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6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en-US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4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en-US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9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3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  <a:cs typeface="Times New Roman"/>
                        </a:rPr>
                        <a:t>12 : 2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 : 2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 : 2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 : 2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3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latin typeface="Times New Roman"/>
                          <a:ea typeface="Times New Roman"/>
                          <a:cs typeface="Times New Roman"/>
                        </a:rPr>
                        <a:t>10 : 2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 : 2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en-US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8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en-US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6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3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 dirty="0"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en-US" sz="2800" dirty="0">
                          <a:latin typeface="Times New Roman"/>
                          <a:ea typeface="Times New Roman"/>
                          <a:cs typeface="Times New Roman"/>
                        </a:rPr>
                        <a:t> 6 = </a:t>
                      </a:r>
                      <a:endParaRPr lang="ru-RU" sz="2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en-US" sz="28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7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  : 2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en-US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3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3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latin typeface="Times New Roman"/>
                          <a:ea typeface="Times New Roman"/>
                          <a:cs typeface="Times New Roman"/>
                        </a:rPr>
                        <a:t>8  : 2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en-US" sz="28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3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en-US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6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 : 2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3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en-US" sz="2800">
                          <a:latin typeface="Times New Roman"/>
                          <a:ea typeface="Times New Roman"/>
                          <a:cs typeface="Times New Roman"/>
                        </a:rPr>
                        <a:t> 4 = 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 : 2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 : 2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en-US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4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3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latin typeface="Times New Roman"/>
                          <a:ea typeface="Times New Roman"/>
                          <a:cs typeface="Times New Roman"/>
                        </a:rPr>
                        <a:t>6 : 2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en-US" sz="28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4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 : 2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  : 2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3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en-US" sz="2800">
                          <a:latin typeface="Times New Roman"/>
                          <a:ea typeface="Times New Roman"/>
                          <a:cs typeface="Times New Roman"/>
                        </a:rPr>
                        <a:t> 9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  : 2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en-US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7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en-US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8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3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latin typeface="Times New Roman"/>
                          <a:ea typeface="Times New Roman"/>
                          <a:cs typeface="Times New Roman"/>
                        </a:rPr>
                        <a:t>16 : 2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en-US" sz="28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9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en-US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5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 : 2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3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en-US" sz="2800">
                          <a:latin typeface="Times New Roman"/>
                          <a:ea typeface="Times New Roman"/>
                          <a:cs typeface="Times New Roman"/>
                        </a:rPr>
                        <a:t> 8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 : 2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 : 2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 : 2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3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en-US" sz="2800">
                          <a:latin typeface="Times New Roman"/>
                          <a:ea typeface="Times New Roman"/>
                          <a:cs typeface="Times New Roman"/>
                        </a:rPr>
                        <a:t> 5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en-US" sz="28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8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en-US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9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en-US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7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3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latin typeface="Times New Roman"/>
                          <a:ea typeface="Times New Roman"/>
                          <a:cs typeface="Times New Roman"/>
                        </a:rPr>
                        <a:t>14 : 2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 : 2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 : 2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 : 2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3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en-US" sz="2800">
                          <a:latin typeface="Times New Roman"/>
                          <a:ea typeface="Times New Roman"/>
                          <a:cs typeface="Times New Roman"/>
                        </a:rPr>
                        <a:t> 3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 : 2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 : 2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en-US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5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3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latin typeface="Times New Roman"/>
                          <a:ea typeface="Times New Roman"/>
                          <a:cs typeface="Times New Roman"/>
                        </a:rPr>
                        <a:t>18 : 2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en-US" sz="28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5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en-US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3 =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 dirty="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 : 2 =</a:t>
                      </a:r>
                      <a:endParaRPr lang="ru-RU" sz="2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618" marR="576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0" y="0"/>
          <a:ext cx="9143999" cy="6858000"/>
        </p:xfrm>
        <a:graphic>
          <a:graphicData uri="http://schemas.openxmlformats.org/drawingml/2006/table">
            <a:tbl>
              <a:tblPr/>
              <a:tblGrid>
                <a:gridCol w="3046725"/>
                <a:gridCol w="3048637"/>
                <a:gridCol w="3048637"/>
              </a:tblGrid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  <a:cs typeface="Times New Roman"/>
                        </a:rPr>
                        <a:t>2  </a:t>
                      </a:r>
                      <a:r>
                        <a:rPr lang="uk-UA" sz="2800" b="1">
                          <a:latin typeface="Times New Roman"/>
                          <a:ea typeface="Times New Roman"/>
                          <a:cs typeface="Times New Roman"/>
                        </a:rPr>
                        <a:t>∙ </a:t>
                      </a:r>
                      <a:r>
                        <a:rPr lang="uk-UA" sz="2800">
                          <a:latin typeface="Times New Roman"/>
                          <a:ea typeface="Times New Roman"/>
                          <a:cs typeface="Times New Roman"/>
                        </a:rPr>
                        <a:t>(30 – 24)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uk-UA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( 40 – 33)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uk-UA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( 20 – 15)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latin typeface="Times New Roman"/>
                          <a:ea typeface="Times New Roman"/>
                          <a:cs typeface="Times New Roman"/>
                        </a:rPr>
                        <a:t> 2  </a:t>
                      </a:r>
                      <a:r>
                        <a:rPr lang="uk-UA" sz="2800" b="1"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uk-UA" sz="2800">
                          <a:latin typeface="Times New Roman"/>
                          <a:ea typeface="Times New Roman"/>
                          <a:cs typeface="Times New Roman"/>
                        </a:rPr>
                        <a:t>  ( 70 – 66)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 </a:t>
                      </a:r>
                      <a:r>
                        <a:rPr lang="uk-UA" sz="2800" b="1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uk-UA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( 60 -  52)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lang="uk-UA" sz="2800" b="1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∙</a:t>
                      </a:r>
                      <a:r>
                        <a:rPr lang="uk-UA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( 80 – 72)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latin typeface="Times New Roman"/>
                          <a:ea typeface="Times New Roman"/>
                          <a:cs typeface="Times New Roman"/>
                        </a:rPr>
                        <a:t> 2 </a:t>
                      </a:r>
                      <a:r>
                        <a:rPr lang="uk-UA" sz="2800" b="1"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uk-UA" sz="2800">
                          <a:latin typeface="Times New Roman"/>
                          <a:ea typeface="Times New Roman"/>
                          <a:cs typeface="Times New Roman"/>
                        </a:rPr>
                        <a:t> ( 20 – 13)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 </a:t>
                      </a:r>
                      <a:r>
                        <a:rPr lang="uk-UA" sz="2800" b="1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uk-UA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( 20 – 14)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uk-UA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( 40 – 37)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latin typeface="Times New Roman"/>
                          <a:ea typeface="Times New Roman"/>
                          <a:cs typeface="Times New Roman"/>
                        </a:rPr>
                        <a:t> 2 </a:t>
                      </a:r>
                      <a:r>
                        <a:rPr lang="uk-UA" sz="2800" b="1"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uk-UA" sz="2800">
                          <a:latin typeface="Times New Roman"/>
                          <a:ea typeface="Times New Roman"/>
                          <a:cs typeface="Times New Roman"/>
                        </a:rPr>
                        <a:t>   ( 40 – 31)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uk-UA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( 50 – 46)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 </a:t>
                      </a:r>
                      <a:r>
                        <a:rPr lang="uk-UA" sz="2800" b="1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uk-UA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(30 – 24)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latin typeface="Times New Roman"/>
                          <a:ea typeface="Times New Roman"/>
                          <a:cs typeface="Times New Roman"/>
                        </a:rPr>
                        <a:t> 2  </a:t>
                      </a:r>
                      <a:r>
                        <a:rPr lang="uk-UA" sz="2800" b="1"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uk-UA" sz="2800">
                          <a:latin typeface="Times New Roman"/>
                          <a:ea typeface="Times New Roman"/>
                          <a:cs typeface="Times New Roman"/>
                        </a:rPr>
                        <a:t>  ( 60 – 52)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uk-UA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( 30 – 27)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uk-UA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( 70 – 61)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latin typeface="Times New Roman"/>
                          <a:ea typeface="Times New Roman"/>
                          <a:cs typeface="Times New Roman"/>
                        </a:rPr>
                        <a:t> 2 </a:t>
                      </a:r>
                      <a:r>
                        <a:rPr lang="uk-UA" sz="2800" b="1"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uk-UA" sz="2800">
                          <a:latin typeface="Times New Roman"/>
                          <a:ea typeface="Times New Roman"/>
                          <a:cs typeface="Times New Roman"/>
                        </a:rPr>
                        <a:t>   ( 50 – 45)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uk-UA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( 70 – 69)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uk-UA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( 50 – 43)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latin typeface="Times New Roman"/>
                          <a:ea typeface="Times New Roman"/>
                          <a:cs typeface="Times New Roman"/>
                        </a:rPr>
                        <a:t> 2  </a:t>
                      </a:r>
                      <a:r>
                        <a:rPr lang="uk-UA" sz="2800" b="1"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uk-UA" sz="2800">
                          <a:latin typeface="Times New Roman"/>
                          <a:ea typeface="Times New Roman"/>
                          <a:cs typeface="Times New Roman"/>
                        </a:rPr>
                        <a:t>  3 + 15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uk-UA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4 + 26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uk-UA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2 + 67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latin typeface="Times New Roman"/>
                          <a:ea typeface="Times New Roman"/>
                          <a:cs typeface="Times New Roman"/>
                        </a:rPr>
                        <a:t> 2 </a:t>
                      </a:r>
                      <a:r>
                        <a:rPr lang="uk-UA" sz="2800" b="1"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uk-UA" sz="2800">
                          <a:latin typeface="Times New Roman"/>
                          <a:ea typeface="Times New Roman"/>
                          <a:cs typeface="Times New Roman"/>
                        </a:rPr>
                        <a:t>  4 + 74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  3 + 59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 </a:t>
                      </a:r>
                      <a:r>
                        <a:rPr lang="uk-UA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 + 75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latin typeface="Times New Roman"/>
                          <a:ea typeface="Times New Roman"/>
                          <a:cs typeface="Times New Roman"/>
                        </a:rPr>
                        <a:t> 2  </a:t>
                      </a:r>
                      <a:r>
                        <a:rPr lang="uk-UA" sz="2800" b="1"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uk-UA" sz="2800">
                          <a:latin typeface="Times New Roman"/>
                          <a:ea typeface="Times New Roman"/>
                          <a:cs typeface="Times New Roman"/>
                        </a:rPr>
                        <a:t> 2 + 88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uk-UA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2 + 77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uk-UA" sz="28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3 + 55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latin typeface="Times New Roman"/>
                          <a:ea typeface="Times New Roman"/>
                          <a:cs typeface="Times New Roman"/>
                        </a:rPr>
                        <a:t> 2  </a:t>
                      </a:r>
                      <a:r>
                        <a:rPr lang="uk-UA" sz="2800" b="1"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uk-UA" sz="2800">
                          <a:latin typeface="Times New Roman"/>
                          <a:ea typeface="Times New Roman"/>
                          <a:cs typeface="Times New Roman"/>
                        </a:rPr>
                        <a:t>  7 – 13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uk-UA" sz="2800">
                          <a:solidFill>
                            <a:srgbClr val="FF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8 – 15</a:t>
                      </a:r>
                      <a:endParaRPr lang="ru-RU" sz="2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800" dirty="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</a:t>
                      </a:r>
                      <a:r>
                        <a:rPr lang="uk-UA" sz="2800" b="1" dirty="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∙</a:t>
                      </a:r>
                      <a:r>
                        <a:rPr lang="uk-UA" sz="2800" dirty="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8 - 14</a:t>
                      </a:r>
                      <a:endParaRPr lang="ru-RU" sz="2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00034" y="571480"/>
            <a:ext cx="1285884" cy="71438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785918" y="500042"/>
            <a:ext cx="219682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*8=16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214942" y="1928802"/>
            <a:ext cx="1285884" cy="71438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286116" y="1857364"/>
            <a:ext cx="181331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8*3=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143240" y="3429000"/>
            <a:ext cx="1285884" cy="71438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214414" y="3357562"/>
            <a:ext cx="181331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8*6=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571736" y="5000636"/>
            <a:ext cx="1285884" cy="71438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4286248" y="5000636"/>
            <a:ext cx="1285884" cy="71438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5786446" y="4786322"/>
            <a:ext cx="140615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=32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1" name="Умножение 10"/>
          <p:cNvSpPr/>
          <p:nvPr/>
        </p:nvSpPr>
        <p:spPr>
          <a:xfrm>
            <a:off x="3857620" y="5214950"/>
            <a:ext cx="357190" cy="428628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785786" y="428604"/>
            <a:ext cx="5982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2</a:t>
            </a:r>
            <a:endParaRPr lang="ru-RU" sz="5400" b="1" cap="none" spc="5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5500694" y="1785926"/>
            <a:ext cx="98135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24</a:t>
            </a:r>
            <a:endParaRPr lang="ru-RU" sz="5400" b="1" cap="none" spc="5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3286116" y="3286124"/>
            <a:ext cx="10118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48</a:t>
            </a:r>
            <a:endParaRPr lang="ru-RU" sz="5400" b="1" cap="none" spc="5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4643438" y="4786322"/>
            <a:ext cx="5982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8</a:t>
            </a:r>
            <a:endParaRPr lang="ru-RU" sz="5400" b="1" cap="none" spc="5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2857488" y="4857760"/>
            <a:ext cx="5982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spc="5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4</a:t>
            </a:r>
            <a:endParaRPr lang="ru-RU" sz="5400" b="1" cap="none" spc="5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800" decel="10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800" decel="100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8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8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8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800" decel="100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800" decel="100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800" decel="10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/>
      <p:bldP spid="6" grpId="0" animBg="1"/>
      <p:bldP spid="7" grpId="0"/>
      <p:bldP spid="8" grpId="0" animBg="1"/>
      <p:bldP spid="9" grpId="0" animBg="1"/>
      <p:bldP spid="10" grpId="0"/>
      <p:bldP spid="12" grpId="0"/>
      <p:bldP spid="15" grpId="0"/>
      <p:bldP spid="16" grpId="0"/>
      <p:bldP spid="17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0" y="-1"/>
          <a:ext cx="9144000" cy="6818306"/>
        </p:xfrm>
        <a:graphic>
          <a:graphicData uri="http://schemas.openxmlformats.org/drawingml/2006/table">
            <a:tbl>
              <a:tblPr/>
              <a:tblGrid>
                <a:gridCol w="9144000"/>
              </a:tblGrid>
              <a:tr h="1364468"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409575" algn="l"/>
                        </a:tabLst>
                      </a:pPr>
                      <a:r>
                        <a:rPr lang="ru-RU" sz="2000">
                          <a:latin typeface="Times New Roman"/>
                          <a:ea typeface="Times New Roman"/>
                          <a:cs typeface="Times New Roman"/>
                        </a:rPr>
                        <a:t>Слагаемое, слагаемое, сумма. 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2286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latin typeface="Times New Roman"/>
                          <a:ea typeface="Times New Roman"/>
                          <a:cs typeface="Times New Roman"/>
                        </a:rPr>
                        <a:t>           4 + 3 = 7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2286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latin typeface="Times New Roman"/>
                          <a:ea typeface="Times New Roman"/>
                          <a:cs typeface="Times New Roman"/>
                        </a:rPr>
                        <a:t>Чтобы  найти  неизвестное  </a:t>
                      </a:r>
                      <a:r>
                        <a:rPr lang="ru-RU" sz="2000" u="sng">
                          <a:latin typeface="Times New Roman"/>
                          <a:ea typeface="Times New Roman"/>
                          <a:cs typeface="Times New Roman"/>
                        </a:rPr>
                        <a:t>слагаемое,</a:t>
                      </a:r>
                      <a:r>
                        <a:rPr lang="ru-RU" sz="2000">
                          <a:latin typeface="Times New Roman"/>
                          <a:ea typeface="Times New Roman"/>
                          <a:cs typeface="Times New Roman"/>
                        </a:rPr>
                        <a:t> нужно  из суммы  вычесть известное  слагаемое.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3214" marR="4321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8436"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409575" algn="l"/>
                        </a:tabLst>
                      </a:pPr>
                      <a:r>
                        <a:rPr lang="ru-RU" sz="2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Уменьшаемое,  вычитаемое, разность.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2286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7 – 3 = 4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2286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Чтобы  найти  </a:t>
                      </a:r>
                      <a:r>
                        <a:rPr lang="ru-RU" sz="2000" u="sng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уменьшаемое,</a:t>
                      </a:r>
                      <a:r>
                        <a:rPr lang="ru-RU" sz="2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нужно   к разности  прибавить вычитаемое.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3214" marR="4321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8436"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409575" algn="l"/>
                        </a:tabLst>
                      </a:pPr>
                      <a:r>
                        <a:rPr lang="ru-RU" sz="2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Уменьшаемое,  вычитаемое, разность.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2286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7 – 3 = 4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2286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Чтобы  найти  </a:t>
                      </a:r>
                      <a:r>
                        <a:rPr lang="ru-RU" sz="2000" u="sng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уменьшаемое,</a:t>
                      </a:r>
                      <a:r>
                        <a:rPr lang="ru-RU" sz="2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нужно   к разности  прибавить вычитаемое.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3214" marR="4321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33"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409575" algn="l"/>
                        </a:tabLst>
                      </a:pPr>
                      <a:r>
                        <a:rPr lang="ru-RU" sz="2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Чтобы  найти </a:t>
                      </a:r>
                      <a:r>
                        <a:rPr lang="ru-RU" sz="2000" u="sng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вычитаемое</a:t>
                      </a:r>
                      <a:r>
                        <a:rPr lang="ru-RU" sz="20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нужно  из уменьшаемого  вычесть разность.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3214" marR="4321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4468"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409575" algn="l"/>
                        </a:tabLst>
                      </a:pPr>
                      <a:r>
                        <a:rPr lang="ru-RU" sz="20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Множитель, множитель, произведение.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3 ∙ 7 = 21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228600" indent="-2286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Чтобы  найти неизвестный  </a:t>
                      </a:r>
                      <a:r>
                        <a:rPr lang="ru-RU" sz="2000" u="sng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множитель,</a:t>
                      </a:r>
                      <a:r>
                        <a:rPr lang="ru-RU" sz="20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нужно  произведение  разделить на известный  множитель.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3214" marR="4321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8436"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409575" algn="l"/>
                        </a:tabLs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Делимое, делитель,  частное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2286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21 : 3 = 7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228600" indent="-2286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Чтобы  найти  </a:t>
                      </a:r>
                      <a:r>
                        <a:rPr lang="ru-RU" sz="2000" u="sng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делимое</a:t>
                      </a:r>
                      <a:r>
                        <a:rPr lang="ru-RU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нужно частное        умножить на делитель.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3214" marR="4321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33"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409575" algn="l"/>
                        </a:tabLst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Чтобы  найти  </a:t>
                      </a:r>
                      <a:r>
                        <a:rPr lang="ru-RU" sz="2000" u="sng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делитель, </a:t>
                      </a:r>
                      <a:r>
                        <a:rPr lang="ru-RU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нужно  делимое  разделить на частное.</a:t>
                      </a:r>
                      <a:endParaRPr lang="ru-RU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3214" marR="4321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ChangeArrowheads="1"/>
          </p:cNvSpPr>
          <p:nvPr/>
        </p:nvSpPr>
        <p:spPr bwMode="auto">
          <a:xfrm>
            <a:off x="571472" y="1285860"/>
            <a:ext cx="1751013" cy="1092200"/>
          </a:xfrm>
          <a:prstGeom prst="rect">
            <a:avLst/>
          </a:prstGeom>
          <a:solidFill>
            <a:srgbClr val="000080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5779" name="Rectangle 3"/>
          <p:cNvSpPr>
            <a:spLocks noChangeArrowheads="1"/>
          </p:cNvSpPr>
          <p:nvPr/>
        </p:nvSpPr>
        <p:spPr bwMode="auto">
          <a:xfrm>
            <a:off x="7143768" y="1142984"/>
            <a:ext cx="1120775" cy="1063625"/>
          </a:xfrm>
          <a:prstGeom prst="rect">
            <a:avLst/>
          </a:prstGeom>
          <a:solidFill>
            <a:srgbClr val="33CCCC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5780" name="AutoShape 4"/>
          <p:cNvSpPr>
            <a:spLocks noChangeArrowheads="1"/>
          </p:cNvSpPr>
          <p:nvPr/>
        </p:nvSpPr>
        <p:spPr bwMode="auto">
          <a:xfrm rot="10800000">
            <a:off x="3643306" y="1142984"/>
            <a:ext cx="2305050" cy="1092200"/>
          </a:xfrm>
          <a:custGeom>
            <a:avLst/>
            <a:gdLst>
              <a:gd name="G0" fmla="+- 5853 0 0"/>
              <a:gd name="G1" fmla="+- 21600 0 5853"/>
              <a:gd name="G2" fmla="*/ 5853 1 2"/>
              <a:gd name="G3" fmla="+- 21600 0 G2"/>
              <a:gd name="G4" fmla="+/ 5853 21600 2"/>
              <a:gd name="G5" fmla="+/ G1 0 2"/>
              <a:gd name="G6" fmla="*/ 21600 21600 5853"/>
              <a:gd name="G7" fmla="*/ G6 1 2"/>
              <a:gd name="G8" fmla="+- 21600 0 G7"/>
              <a:gd name="G9" fmla="*/ 21600 1 2"/>
              <a:gd name="G10" fmla="+- 5853 0 G9"/>
              <a:gd name="G11" fmla="?: G10 G8 0"/>
              <a:gd name="G12" fmla="?: G10 G7 21600"/>
              <a:gd name="T0" fmla="*/ 18673 w 21600"/>
              <a:gd name="T1" fmla="*/ 10800 h 21600"/>
              <a:gd name="T2" fmla="*/ 10800 w 21600"/>
              <a:gd name="T3" fmla="*/ 21600 h 21600"/>
              <a:gd name="T4" fmla="*/ 2927 w 21600"/>
              <a:gd name="T5" fmla="*/ 10800 h 21600"/>
              <a:gd name="T6" fmla="*/ 10800 w 21600"/>
              <a:gd name="T7" fmla="*/ 0 h 21600"/>
              <a:gd name="T8" fmla="*/ 4727 w 21600"/>
              <a:gd name="T9" fmla="*/ 4727 h 21600"/>
              <a:gd name="T10" fmla="*/ 16873 w 21600"/>
              <a:gd name="T11" fmla="*/ 1687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853" y="21600"/>
                </a:lnTo>
                <a:lnTo>
                  <a:pt x="1574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00FF00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5781" name="Rectangle 5"/>
          <p:cNvSpPr>
            <a:spLocks noChangeArrowheads="1"/>
          </p:cNvSpPr>
          <p:nvPr/>
        </p:nvSpPr>
        <p:spPr bwMode="auto">
          <a:xfrm rot="844739">
            <a:off x="1268770" y="3124213"/>
            <a:ext cx="1163637" cy="1177925"/>
          </a:xfrm>
          <a:prstGeom prst="rect">
            <a:avLst/>
          </a:prstGeom>
          <a:solidFill>
            <a:srgbClr val="FF00FF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5782" name="AutoShape 6"/>
          <p:cNvSpPr>
            <a:spLocks noChangeArrowheads="1"/>
          </p:cNvSpPr>
          <p:nvPr/>
        </p:nvSpPr>
        <p:spPr bwMode="auto">
          <a:xfrm>
            <a:off x="4214810" y="2643182"/>
            <a:ext cx="1479550" cy="1279525"/>
          </a:xfrm>
          <a:prstGeom prst="triangle">
            <a:avLst>
              <a:gd name="adj" fmla="val 50000"/>
            </a:avLst>
          </a:prstGeom>
          <a:solidFill>
            <a:srgbClr val="FFFF00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5783" name="Oval 7"/>
          <p:cNvSpPr>
            <a:spLocks noChangeArrowheads="1"/>
          </p:cNvSpPr>
          <p:nvPr/>
        </p:nvSpPr>
        <p:spPr bwMode="auto">
          <a:xfrm>
            <a:off x="6858016" y="2571744"/>
            <a:ext cx="1338263" cy="1306512"/>
          </a:xfrm>
          <a:prstGeom prst="ellipse">
            <a:avLst/>
          </a:prstGeom>
          <a:solidFill>
            <a:srgbClr val="993366"/>
          </a:solidFill>
          <a:ln w="3175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5784" name="AutoShape 8"/>
          <p:cNvSpPr>
            <a:spLocks noChangeArrowheads="1"/>
          </p:cNvSpPr>
          <p:nvPr/>
        </p:nvSpPr>
        <p:spPr bwMode="auto">
          <a:xfrm>
            <a:off x="1142976" y="4786322"/>
            <a:ext cx="1644650" cy="1308100"/>
          </a:xfrm>
          <a:prstGeom prst="pentagon">
            <a:avLst/>
          </a:prstGeom>
          <a:solidFill>
            <a:srgbClr val="FF0000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5785" name="AutoShape 9"/>
          <p:cNvSpPr>
            <a:spLocks noChangeArrowheads="1"/>
          </p:cNvSpPr>
          <p:nvPr/>
        </p:nvSpPr>
        <p:spPr bwMode="auto">
          <a:xfrm>
            <a:off x="4071934" y="4714884"/>
            <a:ext cx="1417638" cy="1227137"/>
          </a:xfrm>
          <a:prstGeom prst="hexagon">
            <a:avLst>
              <a:gd name="adj" fmla="val 28881"/>
              <a:gd name="vf" fmla="val 115470"/>
            </a:avLst>
          </a:prstGeom>
          <a:solidFill>
            <a:srgbClr val="333399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5786" name="AutoShape 10"/>
          <p:cNvSpPr>
            <a:spLocks noChangeArrowheads="1"/>
          </p:cNvSpPr>
          <p:nvPr/>
        </p:nvSpPr>
        <p:spPr bwMode="auto">
          <a:xfrm>
            <a:off x="6929454" y="4357694"/>
            <a:ext cx="1012825" cy="1628775"/>
          </a:xfrm>
          <a:prstGeom prst="diamond">
            <a:avLst/>
          </a:prstGeom>
          <a:solidFill>
            <a:srgbClr val="339966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1071538" y="0"/>
            <a:ext cx="724589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/>
              </a:rPr>
              <a:t>Набор геометрических </a:t>
            </a:r>
          </a:p>
          <a:p>
            <a:pPr algn="ctr"/>
            <a:r>
              <a:rPr lang="ru-RU" sz="54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фигур</a:t>
            </a:r>
            <a:endParaRPr lang="ru-RU" sz="54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802" name="Group 2"/>
          <p:cNvGrpSpPr>
            <a:grpSpLocks/>
          </p:cNvGrpSpPr>
          <p:nvPr/>
        </p:nvGrpSpPr>
        <p:grpSpPr bwMode="auto">
          <a:xfrm>
            <a:off x="571472" y="2000240"/>
            <a:ext cx="3000396" cy="3214710"/>
            <a:chOff x="1929" y="7937"/>
            <a:chExt cx="7980" cy="7980"/>
          </a:xfrm>
        </p:grpSpPr>
        <p:sp>
          <p:nvSpPr>
            <p:cNvPr id="76803" name="Oval 3"/>
            <p:cNvSpPr>
              <a:spLocks noChangeArrowheads="1"/>
            </p:cNvSpPr>
            <p:nvPr/>
          </p:nvSpPr>
          <p:spPr bwMode="auto">
            <a:xfrm>
              <a:off x="1929" y="7937"/>
              <a:ext cx="7980" cy="798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6804" name="Line 4"/>
            <p:cNvSpPr>
              <a:spLocks noChangeShapeType="1"/>
            </p:cNvSpPr>
            <p:nvPr/>
          </p:nvSpPr>
          <p:spPr bwMode="auto">
            <a:xfrm>
              <a:off x="1929" y="11927"/>
              <a:ext cx="798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6805" name="Line 5"/>
            <p:cNvSpPr>
              <a:spLocks noChangeShapeType="1"/>
            </p:cNvSpPr>
            <p:nvPr/>
          </p:nvSpPr>
          <p:spPr bwMode="auto">
            <a:xfrm rot="5400000">
              <a:off x="1929" y="11927"/>
              <a:ext cx="798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6806" name="Line 6"/>
            <p:cNvSpPr>
              <a:spLocks noChangeShapeType="1"/>
            </p:cNvSpPr>
            <p:nvPr/>
          </p:nvSpPr>
          <p:spPr bwMode="auto">
            <a:xfrm rot="900000">
              <a:off x="1929" y="11927"/>
              <a:ext cx="798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6807" name="Line 7"/>
            <p:cNvSpPr>
              <a:spLocks noChangeShapeType="1"/>
            </p:cNvSpPr>
            <p:nvPr/>
          </p:nvSpPr>
          <p:spPr bwMode="auto">
            <a:xfrm rot="1800000">
              <a:off x="1929" y="11927"/>
              <a:ext cx="798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6808" name="Line 8"/>
            <p:cNvSpPr>
              <a:spLocks noChangeShapeType="1"/>
            </p:cNvSpPr>
            <p:nvPr/>
          </p:nvSpPr>
          <p:spPr bwMode="auto">
            <a:xfrm rot="2700000">
              <a:off x="1929" y="11927"/>
              <a:ext cx="798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6809" name="Line 9"/>
            <p:cNvSpPr>
              <a:spLocks noChangeShapeType="1"/>
            </p:cNvSpPr>
            <p:nvPr/>
          </p:nvSpPr>
          <p:spPr bwMode="auto">
            <a:xfrm rot="3600000">
              <a:off x="1929" y="11927"/>
              <a:ext cx="798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6810" name="Line 10"/>
            <p:cNvSpPr>
              <a:spLocks noChangeShapeType="1"/>
            </p:cNvSpPr>
            <p:nvPr/>
          </p:nvSpPr>
          <p:spPr bwMode="auto">
            <a:xfrm rot="4500000">
              <a:off x="1929" y="11927"/>
              <a:ext cx="798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6811" name="Line 11"/>
            <p:cNvSpPr>
              <a:spLocks noChangeShapeType="1"/>
            </p:cNvSpPr>
            <p:nvPr/>
          </p:nvSpPr>
          <p:spPr bwMode="auto">
            <a:xfrm rot="6300000">
              <a:off x="1929" y="11927"/>
              <a:ext cx="798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6812" name="Line 12"/>
            <p:cNvSpPr>
              <a:spLocks noChangeShapeType="1"/>
            </p:cNvSpPr>
            <p:nvPr/>
          </p:nvSpPr>
          <p:spPr bwMode="auto">
            <a:xfrm rot="7200000">
              <a:off x="1929" y="11927"/>
              <a:ext cx="798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6813" name="Line 13"/>
            <p:cNvSpPr>
              <a:spLocks noChangeShapeType="1"/>
            </p:cNvSpPr>
            <p:nvPr/>
          </p:nvSpPr>
          <p:spPr bwMode="auto">
            <a:xfrm rot="8100000">
              <a:off x="1929" y="11927"/>
              <a:ext cx="798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6814" name="Line 14"/>
            <p:cNvSpPr>
              <a:spLocks noChangeShapeType="1"/>
            </p:cNvSpPr>
            <p:nvPr/>
          </p:nvSpPr>
          <p:spPr bwMode="auto">
            <a:xfrm rot="9000000">
              <a:off x="1929" y="11927"/>
              <a:ext cx="798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6815" name="Line 15"/>
            <p:cNvSpPr>
              <a:spLocks noChangeShapeType="1"/>
            </p:cNvSpPr>
            <p:nvPr/>
          </p:nvSpPr>
          <p:spPr bwMode="auto">
            <a:xfrm rot="9900000">
              <a:off x="1929" y="11927"/>
              <a:ext cx="798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4929190" y="2143118"/>
          <a:ext cx="3500464" cy="3000392"/>
        </p:xfrm>
        <a:graphic>
          <a:graphicData uri="http://schemas.openxmlformats.org/drawingml/2006/table">
            <a:tbl>
              <a:tblPr/>
              <a:tblGrid>
                <a:gridCol w="875116"/>
                <a:gridCol w="875116"/>
                <a:gridCol w="875116"/>
                <a:gridCol w="875116"/>
              </a:tblGrid>
              <a:tr h="37504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k-UA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k-UA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k-UA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k-UA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04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k-UA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k-UA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k-UA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k-UA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04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k-UA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k-UA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k-UA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k-UA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04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k-UA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k-UA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k-UA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k-UA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04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k-UA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k-UA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k-UA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k-UA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04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k-UA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k-UA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k-UA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k-UA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04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k-UA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k-UA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k-UA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k-UA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04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k-UA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k-UA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k-UA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k-UA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Прямоугольник 16"/>
          <p:cNvSpPr/>
          <p:nvPr/>
        </p:nvSpPr>
        <p:spPr>
          <a:xfrm>
            <a:off x="500034" y="0"/>
            <a:ext cx="7566302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Геометрические фигуры </a:t>
            </a:r>
          </a:p>
          <a:p>
            <a:pPr algn="ctr"/>
            <a:r>
              <a:rPr lang="ru-RU" sz="54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для деления на части</a:t>
            </a:r>
            <a:endParaRPr lang="ru-RU" sz="54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рек">
  <a:themeElements>
    <a:clrScheme name="Трек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Трек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Трек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95</TotalTime>
  <Words>988</Words>
  <Application>Microsoft Office PowerPoint</Application>
  <PresentationFormat>Экран (4:3)</PresentationFormat>
  <Paragraphs>227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Трек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</vt:vector>
  </TitlesOfParts>
  <Company>*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Добро пожаловать</dc:creator>
  <cp:lastModifiedBy>Гость</cp:lastModifiedBy>
  <cp:revision>9</cp:revision>
  <dcterms:created xsi:type="dcterms:W3CDTF">2013-09-13T04:54:40Z</dcterms:created>
  <dcterms:modified xsi:type="dcterms:W3CDTF">2013-09-13T09:20:09Z</dcterms:modified>
</cp:coreProperties>
</file>