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D7AC3CCA-C797-4891-BE02-D94E43425B78}" styleName="Medium Style 4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  <a:fill>
          <a:solidFill>
            <a:schemeClr val="dk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dk1">
              <a:tint val="20000"/>
            </a:schemeClr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1" d="100"/>
          <a:sy n="111" d="100"/>
        </p:scale>
        <p:origin x="-1614" y="-78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hape 1059"/>
          <p:cNvSpPr>
            <a:spLocks noChangeArrowheads="1" noGrp="1"/>
          </p:cNvSpPr>
          <p:nvPr userDrawn="1"/>
        </p:nvSpPr>
        <p:spPr bwMode="auto">
          <a:xfrm>
            <a:off x="1797049" y="2291401"/>
            <a:ext cx="4089399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060"/>
          <p:cNvSpPr>
            <a:spLocks noChangeArrowheads="1" noGrp="1"/>
          </p:cNvSpPr>
          <p:nvPr userDrawn="1"/>
        </p:nvSpPr>
        <p:spPr bwMode="auto">
          <a:xfrm>
            <a:off x="982135" y="1839834"/>
            <a:ext cx="3008840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061"/>
          <p:cNvSpPr>
            <a:spLocks noChangeArrowheads="1" noGrp="1"/>
          </p:cNvSpPr>
          <p:nvPr userDrawn="1"/>
        </p:nvSpPr>
        <p:spPr bwMode="auto">
          <a:xfrm>
            <a:off x="4925273" y="4629133"/>
            <a:ext cx="404664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062"/>
          <p:cNvSpPr>
            <a:spLocks noChangeArrowheads="1" noGrp="1"/>
          </p:cNvSpPr>
          <p:nvPr userDrawn="1"/>
        </p:nvSpPr>
        <p:spPr bwMode="auto">
          <a:xfrm>
            <a:off x="291890" y="6100774"/>
            <a:ext cx="3726390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1574799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3491879" y="2708919"/>
            <a:ext cx="5040559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3446874" y="1808820"/>
            <a:ext cx="5040559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2313" y="4406901"/>
            <a:ext cx="77724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457200" y="1600201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4648199" y="1600201"/>
            <a:ext cx="4038598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457200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4645027" y="1535113"/>
            <a:ext cx="404177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4645027" y="2174874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2" y="273049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3575049" y="273051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457202" y="1435102"/>
            <a:ext cx="3008313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92287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1792287" y="612774"/>
            <a:ext cx="54864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1792287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9"/>
            <a:ext cx="20574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9"/>
            <a:ext cx="60197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9"/>
          <p:cNvSpPr>
            <a:spLocks noChangeArrowheads="1" noGrp="1"/>
          </p:cNvSpPr>
          <p:nvPr userDrawn="1"/>
        </p:nvSpPr>
        <p:spPr bwMode="auto">
          <a:xfrm>
            <a:off x="3732529" y="2"/>
            <a:ext cx="229361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060"/>
          <p:cNvSpPr>
            <a:spLocks noChangeArrowheads="1" noGrp="1"/>
          </p:cNvSpPr>
          <p:nvPr userDrawn="1"/>
        </p:nvSpPr>
        <p:spPr bwMode="auto">
          <a:xfrm>
            <a:off x="-18509" y="1"/>
            <a:ext cx="1049654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Shape 1061"/>
          <p:cNvSpPr>
            <a:spLocks noChangeArrowheads="1" noGrp="1"/>
          </p:cNvSpPr>
          <p:nvPr userDrawn="1"/>
        </p:nvSpPr>
        <p:spPr bwMode="auto">
          <a:xfrm>
            <a:off x="1228092" y="1"/>
            <a:ext cx="2879724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1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3124199" y="6356351"/>
            <a:ext cx="28955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6553199" y="6356351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kot.mintrud.gov.ru/" TargetMode="External"/><Relationship Id="rId3" Type="http://schemas.openxmlformats.org/officeDocument/2006/relationships/image" Target="../media/image5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akot.rosmintrud.ru/ot/organizations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lfirstaid.ru/" TargetMode="External"/><Relationship Id="rId3" Type="http://schemas.openxmlformats.org/officeDocument/2006/relationships/image" Target="../media/image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oc13.ru/admin/nko-aap.ru/russian-dolgoletie/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FDAF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 flipH="0" flipV="0">
            <a:off x="582985" y="948563"/>
            <a:ext cx="7963958" cy="374441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br>
              <a:rPr lang="ru-RU" sz="4800">
                <a:solidFill>
                  <a:srgbClr val="000000"/>
                </a:solidFill>
                <a:latin typeface="Times New Roman"/>
                <a:cs typeface="Times New Roman"/>
              </a:rPr>
            </a:br>
            <a:br>
              <a:rPr lang="ru-RU" sz="480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ru-RU" sz="4800" b="1">
                <a:solidFill>
                  <a:srgbClr val="000000"/>
                </a:solidFill>
                <a:latin typeface="Times New Roman"/>
                <a:cs typeface="Times New Roman"/>
              </a:rPr>
              <a:t>Организация работы </a:t>
            </a:r>
            <a:br>
              <a:rPr lang="ru-RU" sz="48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ru-RU" sz="4800" b="1">
                <a:solidFill>
                  <a:srgbClr val="000000"/>
                </a:solidFill>
                <a:latin typeface="Times New Roman"/>
                <a:cs typeface="Times New Roman"/>
              </a:rPr>
              <a:t>по охране труда </a:t>
            </a:r>
            <a:br>
              <a:rPr lang="ru-RU" sz="48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ru-RU" sz="4800" b="1">
                <a:solidFill>
                  <a:srgbClr val="000000"/>
                </a:solidFill>
                <a:latin typeface="Times New Roman"/>
                <a:cs typeface="Times New Roman"/>
              </a:rPr>
              <a:t>в МБУ ДО «Детская школа искусств имени </a:t>
            </a:r>
            <a:br>
              <a:rPr lang="ru-RU" sz="48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ru-RU" sz="4800" b="1">
                <a:solidFill>
                  <a:srgbClr val="000000"/>
                </a:solidFill>
                <a:latin typeface="Times New Roman"/>
                <a:cs typeface="Times New Roman"/>
              </a:rPr>
              <a:t>А.М. Кузьмина»</a:t>
            </a:r>
            <a:r>
              <a:rPr lang="ru-RU" sz="480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br>
              <a:rPr lang="ru-RU" sz="4800">
                <a:solidFill>
                  <a:srgbClr val="000000"/>
                </a:solidFill>
                <a:latin typeface="Times New Roman"/>
                <a:cs typeface="Times New Roman"/>
              </a:rPr>
            </a:br>
            <a:br>
              <a:rPr lang="ru-RU" sz="4800">
                <a:solidFill>
                  <a:srgbClr val="000000"/>
                </a:solidFill>
                <a:latin typeface="Times New Roman"/>
                <a:cs typeface="Times New Roman"/>
              </a:rPr>
            </a:br>
            <a:br>
              <a:rPr lang="ru-RU" sz="4800">
                <a:solidFill>
                  <a:srgbClr val="000000"/>
                </a:solidFill>
                <a:latin typeface="Times New Roman"/>
                <a:cs typeface="Times New Roman"/>
              </a:rPr>
            </a:br>
            <a:endParaRPr lang="ru-RU" sz="2400">
              <a:latin typeface="Times New Roman"/>
              <a:cs typeface="Times New Roman"/>
            </a:endParaRPr>
          </a:p>
        </p:txBody>
      </p:sp>
      <p:pic>
        <p:nvPicPr>
          <p:cNvPr id="4" name="Рисунок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 rot="0" flipH="0" flipV="0">
            <a:off x="6728400" y="5080299"/>
            <a:ext cx="2296800" cy="1566000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  <a:miter lim="800000"/>
            <a:headEnd/>
            <a:tailEnd/>
          </a:ln>
        </p:spPr>
      </p:pic>
      <p:sp>
        <p:nvSpPr>
          <p:cNvPr id="1657518041" name=""/>
          <p:cNvSpPr txBox="1"/>
          <p:nvPr/>
        </p:nvSpPr>
        <p:spPr bwMode="auto">
          <a:xfrm flipH="0" flipV="0">
            <a:off x="4231357" y="5935485"/>
            <a:ext cx="1161464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sz="2400" b="1">
                <a:solidFill>
                  <a:srgbClr val="000000"/>
                </a:solidFill>
                <a:latin typeface="Times New Roman"/>
                <a:cs typeface="Times New Roman"/>
              </a:rPr>
              <a:t>2025</a:t>
            </a:r>
            <a:endParaRPr sz="9000" b="1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318401" y="317498"/>
            <a:ext cx="8528401" cy="631472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5000" lnSpcReduction="9000"/>
          </a:bodyPr>
          <a:lstStyle/>
          <a:p>
            <a:pPr marL="0" lvl="0" indent="0" algn="just">
              <a:buFont typeface="Arial"/>
              <a:buNone/>
              <a:defRPr/>
            </a:pPr>
            <a:r>
              <a:rPr lang="ru-RU"/>
              <a:t>	</a:t>
            </a:r>
            <a:r>
              <a:rPr lang="ru-RU">
                <a:solidFill>
                  <a:schemeClr val="tx1"/>
                </a:solidFill>
              </a:rPr>
              <a:t>Школа искусств имени А.М. Кузьмина, как филиал, открылась в 1967 году с тремя преподавателями, которые обучали 15 учеников. В настоящее время школа располагается в 2х этажном здании, введенном в эксплуатацию в 1998 году, по адресу улица Свободы, дом 14. Структурное подразделение школы находится в поселке Высокий на улице Нефтяников, дом 6, занимает правое крыло первого этажа общеобразовательной школы №6. </a:t>
            </a:r>
            <a:endParaRPr>
              <a:solidFill>
                <a:schemeClr val="tx1"/>
              </a:solidFill>
            </a:endParaRPr>
          </a:p>
          <a:p>
            <a:pPr marL="0" indent="0" algn="just">
              <a:buFont typeface="Arial"/>
              <a:buNone/>
              <a:defRPr/>
            </a:pPr>
            <a:endParaRPr>
              <a:solidFill>
                <a:schemeClr val="tx1"/>
              </a:solidFill>
            </a:endParaRPr>
          </a:p>
          <a:p>
            <a:pPr marL="0" indent="0" algn="just">
              <a:buFont typeface="Arial"/>
              <a:buNone/>
              <a:defRPr/>
            </a:pPr>
            <a:r>
              <a:rPr lang="ru-RU">
                <a:solidFill>
                  <a:schemeClr val="tx1"/>
                </a:solidFill>
              </a:rPr>
              <a:t>	</a:t>
            </a:r>
            <a:r>
              <a:rPr lang="ru-RU" b="0">
                <a:solidFill>
                  <a:schemeClr val="tx1"/>
                </a:solidFill>
              </a:rPr>
              <a:t>Директор</a:t>
            </a:r>
            <a:r>
              <a:rPr lang="en-US" b="0">
                <a:solidFill>
                  <a:schemeClr val="tx1"/>
                </a:solidFill>
              </a:rPr>
              <a:t> </a:t>
            </a:r>
            <a:r>
              <a:rPr lang="ru-RU" b="0">
                <a:solidFill>
                  <a:schemeClr val="tx1"/>
                </a:solidFill>
              </a:rPr>
              <a:t>школы – </a:t>
            </a:r>
            <a:r>
              <a:rPr lang="ru-RU" b="0">
                <a:solidFill>
                  <a:schemeClr val="tx1"/>
                </a:solidFill>
              </a:rPr>
              <a:t>Алексеёнок</a:t>
            </a:r>
            <a:r>
              <a:rPr lang="ru-RU" b="0">
                <a:solidFill>
                  <a:schemeClr val="tx1"/>
                </a:solidFill>
              </a:rPr>
              <a:t> </a:t>
            </a:r>
            <a:r>
              <a:rPr lang="ru-RU" b="0">
                <a:solidFill>
                  <a:schemeClr val="tx1"/>
                </a:solidFill>
              </a:rPr>
              <a:t>Нэля</a:t>
            </a:r>
            <a:r>
              <a:rPr lang="ru-RU" b="0">
                <a:solidFill>
                  <a:schemeClr val="tx1"/>
                </a:solidFill>
              </a:rPr>
              <a:t> </a:t>
            </a:r>
            <a:r>
              <a:rPr lang="ru-RU" b="0">
                <a:solidFill>
                  <a:schemeClr val="tx1"/>
                </a:solidFill>
              </a:rPr>
              <a:t>Витальевна, в школе под ее руководством трудятся </a:t>
            </a:r>
            <a:r>
              <a:rPr lang="ru-RU" b="0">
                <a:solidFill>
                  <a:schemeClr val="tx1"/>
                </a:solidFill>
              </a:rPr>
              <a:t>116 человек,  обучаются 910 детей</a:t>
            </a:r>
            <a:r>
              <a:rPr lang="ru-RU" b="0">
                <a:solidFill>
                  <a:schemeClr val="tx1"/>
                </a:solidFill>
              </a:rPr>
              <a:t>.</a:t>
            </a:r>
            <a:r>
              <a:rPr lang="ru-RU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sz="3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 lang="ru-RU" sz="3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 школе работают два специалиста по охране труда – Любовь Сидоровна Митрофанова, Дина Валериевна Окунева.</a:t>
            </a:r>
            <a:endParaRPr sz="3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 algn="just">
              <a:buFont typeface="Arial"/>
              <a:buNone/>
              <a:defRPr/>
            </a:pPr>
            <a:r>
              <a:rPr>
                <a:solidFill>
                  <a:schemeClr val="tx1"/>
                </a:solidFill>
              </a:rPr>
              <a:t>	</a:t>
            </a:r>
            <a:endParaRPr>
              <a:solidFill>
                <a:schemeClr val="tx1"/>
              </a:solidFill>
            </a:endParaRPr>
          </a:p>
          <a:p>
            <a:pPr marL="0" indent="0" algn="just">
              <a:buFont typeface="Arial"/>
              <a:buNone/>
              <a:defRPr/>
            </a:pPr>
            <a:r>
              <a:rPr>
                <a:solidFill>
                  <a:schemeClr val="tx1"/>
                </a:solidFill>
              </a:rPr>
              <a:t>	В результате совместной работы достигнут высокий уровень организации работы по охране труда.  </a:t>
            </a:r>
            <a:endParaRPr>
              <a:solidFill>
                <a:schemeClr val="tx1"/>
              </a:solidFill>
            </a:endParaRPr>
          </a:p>
          <a:p>
            <a:pPr marL="0" indent="0" algn="just">
              <a:buFont typeface="Arial"/>
              <a:buNone/>
              <a:defRPr/>
            </a:pPr>
            <a:r>
              <a:rPr lang="ru-RU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	Деятельность специалистов включает:</a:t>
            </a:r>
            <a:endParaRPr>
              <a:solidFill>
                <a:schemeClr val="tx1"/>
              </a:solidFill>
            </a:endParaRPr>
          </a:p>
          <a:p>
            <a:pPr algn="just">
              <a:buFont typeface="Wingdings"/>
              <a:buChar char="ü"/>
              <a:defRPr/>
            </a:pPr>
            <a:r>
              <a:rPr lang="ru-RU">
                <a:solidFill>
                  <a:schemeClr val="tx1"/>
                </a:solidFill>
              </a:rPr>
              <a:t>	разработку локальных  актов;</a:t>
            </a:r>
            <a:endParaRPr>
              <a:solidFill>
                <a:schemeClr val="tx1"/>
              </a:solidFill>
            </a:endParaRPr>
          </a:p>
          <a:p>
            <a:pPr algn="just">
              <a:buFont typeface="Wingdings"/>
              <a:buChar char="ü"/>
              <a:defRPr/>
            </a:pPr>
            <a:r>
              <a:rPr lang="ru-RU">
                <a:solidFill>
                  <a:schemeClr val="tx1"/>
                </a:solidFill>
              </a:rPr>
              <a:t>	организацию обучения сотрудников по вопросам охраны труда;</a:t>
            </a:r>
            <a:endParaRPr>
              <a:solidFill>
                <a:schemeClr val="tx1"/>
              </a:solidFill>
            </a:endParaRPr>
          </a:p>
          <a:p>
            <a:pPr algn="just">
              <a:buFont typeface="Wingdings"/>
              <a:buChar char="ü"/>
              <a:defRPr/>
            </a:pPr>
            <a:r>
              <a:rPr lang="ru-RU">
                <a:solidFill>
                  <a:schemeClr val="tx1"/>
                </a:solidFill>
              </a:rPr>
              <a:t>	расчет </a:t>
            </a:r>
            <a:r>
              <a:rPr lang="ru-RU">
                <a:solidFill>
                  <a:schemeClr val="tx1"/>
                </a:solidFill>
              </a:rPr>
              <a:t>профрисков</a:t>
            </a:r>
            <a:r>
              <a:rPr lang="ru-RU">
                <a:solidFill>
                  <a:schemeClr val="tx1"/>
                </a:solidFill>
              </a:rPr>
              <a:t>;</a:t>
            </a:r>
            <a:endParaRPr>
              <a:solidFill>
                <a:schemeClr val="tx1"/>
              </a:solidFill>
            </a:endParaRPr>
          </a:p>
          <a:p>
            <a:pPr algn="just">
              <a:buFont typeface="Wingdings"/>
              <a:buChar char="ü"/>
              <a:defRPr/>
            </a:pPr>
            <a:r>
              <a:rPr lang="ru-RU">
                <a:solidFill>
                  <a:schemeClr val="tx1"/>
                </a:solidFill>
              </a:rPr>
              <a:t>	взаимодействие с социальными партнерами; </a:t>
            </a:r>
            <a:endParaRPr>
              <a:solidFill>
                <a:schemeClr val="tx1"/>
              </a:solidFill>
            </a:endParaRPr>
          </a:p>
          <a:p>
            <a:pPr algn="just">
              <a:buFont typeface="Wingdings"/>
              <a:buChar char="ü"/>
              <a:defRPr/>
            </a:pPr>
            <a:r>
              <a:rPr lang="ru-RU">
                <a:solidFill>
                  <a:schemeClr val="tx1"/>
                </a:solidFill>
              </a:rPr>
              <a:t>	контроль состояния охраны труда </a:t>
            </a:r>
            <a:r>
              <a:rPr lang="ru-RU" b="0">
                <a:solidFill>
                  <a:schemeClr val="tx1"/>
                </a:solidFill>
              </a:rPr>
              <a:t>(приказы, программы, инструктажи, положения, инструкции, обучение,  </a:t>
            </a:r>
            <a:r>
              <a:rPr lang="ru-RU" b="0">
                <a:solidFill>
                  <a:schemeClr val="tx1"/>
                </a:solidFill>
              </a:rPr>
              <a:t>профриски</a:t>
            </a:r>
            <a:r>
              <a:rPr lang="ru-RU" b="0">
                <a:solidFill>
                  <a:schemeClr val="tx1"/>
                </a:solidFill>
              </a:rPr>
              <a:t>, вакцинация, нулевой травматизм)</a:t>
            </a:r>
            <a:endParaRPr b="0">
              <a:solidFill>
                <a:schemeClr val="tx1"/>
              </a:solidFill>
            </a:endParaRPr>
          </a:p>
          <a:p>
            <a:pPr marL="0" indent="0" algn="just">
              <a:buFont typeface="Arial"/>
              <a:buNone/>
              <a:defRPr/>
            </a:pPr>
            <a:r>
              <a:rPr lang="ru-RU" b="0">
                <a:solidFill>
                  <a:schemeClr val="tx1"/>
                </a:solidFill>
              </a:rPr>
              <a:t>	и др. </a:t>
            </a:r>
            <a:endParaRPr b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7469363" y="5749571"/>
            <a:ext cx="1295400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>
            <a:off x="2286000" y="-10190112"/>
            <a:ext cx="4572360" cy="694980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defRPr/>
            </a:pPr>
            <a:r>
              <a:rPr lang="ru-RU" b="1"/>
              <a:t>Управление  охраной труда </a:t>
            </a:r>
            <a:endParaRPr lang="ru-RU"/>
          </a:p>
          <a:p>
            <a:pPr>
              <a:defRPr/>
            </a:pPr>
            <a:r>
              <a:rPr lang="ru-RU" b="1"/>
              <a:t>Управление охраной труда в школе</a:t>
            </a:r>
            <a:r>
              <a:rPr lang="ru-RU"/>
              <a:t> (система управления охраной труда, СУОТ) — это комплекс взаимосвязанных элементов, которые устанавливают политику и цели в области охраны труда в организациях, а также процедуры по достижению этих целей. </a:t>
            </a:r>
            <a:endParaRPr/>
          </a:p>
          <a:p>
            <a:pPr>
              <a:defRPr/>
            </a:pPr>
            <a:r>
              <a:rPr lang="ru-RU" b="1"/>
              <a:t> Основная цель</a:t>
            </a:r>
            <a:r>
              <a:rPr lang="ru-RU"/>
              <a:t> СУОТ — защита здоровья и обеспечение безопасности всех участников образовательного процесса: преподавателей, административного персонала, обслуживающего персонала.  </a:t>
            </a:r>
            <a:r>
              <a:rPr lang="ru-RU" b="1"/>
              <a:t>Мы все с вами отвечаем за жизнь и здоровье наших обучающихся. </a:t>
            </a:r>
            <a:endParaRPr lang="ru-RU"/>
          </a:p>
          <a:p>
            <a:pPr>
              <a:defRPr/>
            </a:pPr>
            <a:r>
              <a:rPr lang="ru-RU" b="1"/>
              <a:t>Некоторые задачи системы управления охраной труда в школе:</a:t>
            </a:r>
            <a:endParaRPr lang="ru-RU"/>
          </a:p>
          <a:p>
            <a:pPr lvl="0">
              <a:defRPr/>
            </a:pPr>
            <a:r>
              <a:rPr lang="ru-RU"/>
              <a:t>реализация основных направлений политики образовательной организации в сфере охраны труда и выработка предложений по её совершенствованию;</a:t>
            </a:r>
            <a:endParaRPr/>
          </a:p>
          <a:p>
            <a:pPr lvl="0">
              <a:defRPr/>
            </a:pPr>
            <a:r>
              <a:rPr lang="ru-RU"/>
              <a:t>разработка и реализация программ улучшения условий и охраны труда</a:t>
            </a:r>
            <a:r>
              <a:rPr lang="ru-RU"/>
              <a:t>;</a:t>
            </a:r>
            <a:endParaRPr lang="ru-RU"/>
          </a:p>
        </p:txBody>
      </p:sp>
      <p:sp>
        <p:nvSpPr>
          <p:cNvPr id="5" name="Прямоугольник 4"/>
          <p:cNvSpPr/>
          <p:nvPr/>
        </p:nvSpPr>
        <p:spPr bwMode="auto">
          <a:xfrm flipH="0" flipV="0">
            <a:off x="371319" y="807539"/>
            <a:ext cx="8391433" cy="5242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b="1"/>
              <a:t>	У</a:t>
            </a:r>
            <a:r>
              <a:rPr lang="ru-RU" sz="1600" b="1"/>
              <a:t>правление охраной труда в школе</a:t>
            </a:r>
            <a:r>
              <a:rPr lang="ru-RU" sz="1600"/>
              <a:t>  (система управления охраной труда, СУОТ) — это комплекс взаимосвязанных элементов, которые устанавливают политику и цели в области охраны труда, а также процедуры по достижению этих целей. </a:t>
            </a:r>
            <a:endParaRPr sz="1600"/>
          </a:p>
          <a:p>
            <a:pPr algn="just">
              <a:defRPr/>
            </a:pPr>
            <a:r>
              <a:rPr lang="ru-RU" sz="1600" b="1"/>
              <a:t> 	Основная цель</a:t>
            </a:r>
            <a:r>
              <a:rPr lang="ru-RU" sz="1600" b="1"/>
              <a:t> СУОТ</a:t>
            </a:r>
            <a:r>
              <a:rPr lang="ru-RU" sz="1600"/>
              <a:t> — защита здоровья и обеспечение безопасности всех участников образовательного процесса: преподавателей, административного персонала, обслуживающего персонала и, конечно же, </a:t>
            </a:r>
            <a:r>
              <a:rPr lang="ru-RU" sz="1600" b="0"/>
              <a:t>обучающихся. </a:t>
            </a:r>
            <a:endParaRPr sz="1600"/>
          </a:p>
          <a:p>
            <a:pPr algn="just">
              <a:defRPr/>
            </a:pPr>
            <a:r>
              <a:rPr lang="ru-RU" sz="1600" b="1"/>
              <a:t>	</a:t>
            </a:r>
            <a:endParaRPr lang="ru-RU" sz="1600" b="1"/>
          </a:p>
          <a:p>
            <a:pPr algn="just">
              <a:defRPr/>
            </a:pPr>
            <a:r>
              <a:rPr lang="ru-RU" sz="1600" b="1"/>
              <a:t>	Некоторые задачи системы управления охраной труда в школе:</a:t>
            </a:r>
            <a:endParaRPr sz="1600"/>
          </a:p>
          <a:p>
            <a:pPr lvl="0" algn="just">
              <a:defRPr/>
            </a:pPr>
            <a:r>
              <a:rPr lang="ru-RU" sz="1600"/>
              <a:t>	реализация основных направлений политики образовательной организации в сфере охраны труда и выработка предложений по её совершенствованию;</a:t>
            </a:r>
            <a:endParaRPr sz="1600"/>
          </a:p>
          <a:p>
            <a:pPr lvl="0" algn="just">
              <a:defRPr/>
            </a:pPr>
            <a:r>
              <a:rPr lang="ru-RU" sz="1600"/>
              <a:t>	разработка и реализация программ улучшения условий и охраны труда;</a:t>
            </a:r>
            <a:endParaRPr sz="1600"/>
          </a:p>
          <a:p>
            <a:pPr lvl="0" algn="just">
              <a:defRPr/>
            </a:pPr>
            <a:r>
              <a:rPr lang="ru-RU" sz="1600"/>
              <a:t>	создание условий, обеспечивающих соблюдение законодательства по охране труда;</a:t>
            </a:r>
            <a:endParaRPr sz="1600"/>
          </a:p>
          <a:p>
            <a:pPr lvl="0" algn="just">
              <a:defRPr/>
            </a:pPr>
            <a:r>
              <a:rPr lang="ru-RU" sz="1600"/>
              <a:t>	формирование безопасных условий труда;</a:t>
            </a:r>
            <a:endParaRPr sz="1600"/>
          </a:p>
          <a:p>
            <a:pPr lvl="0" algn="just">
              <a:defRPr/>
            </a:pPr>
            <a:r>
              <a:rPr lang="ru-RU" sz="1600"/>
              <a:t>	контроль над соблюдением требований охраны труда;</a:t>
            </a:r>
            <a:endParaRPr sz="1600"/>
          </a:p>
          <a:p>
            <a:pPr lvl="0" algn="just">
              <a:defRPr/>
            </a:pPr>
            <a:r>
              <a:rPr lang="ru-RU" sz="1600"/>
              <a:t>	обучение и проверка знаний по охране труда;</a:t>
            </a:r>
            <a:endParaRPr sz="1600"/>
          </a:p>
          <a:p>
            <a:pPr lvl="0" algn="just">
              <a:defRPr/>
            </a:pPr>
            <a:r>
              <a:rPr lang="ru-RU" sz="1600"/>
              <a:t>	предотвращение несчастных случаев с работниками и обучающимися во время проведения образовательной деятельности;</a:t>
            </a:r>
            <a:endParaRPr sz="1600"/>
          </a:p>
          <a:p>
            <a:pPr algn="just">
              <a:defRPr/>
            </a:pPr>
            <a:r>
              <a:rPr lang="ru-RU" sz="1600"/>
              <a:t>	охрана и укрепление здоровья работников, обучающихся, создание оптимального сочетания режимов труда, обучения</a:t>
            </a:r>
            <a:r>
              <a:rPr lang="ru-RU" sz="1600"/>
              <a:t>, отдыха.</a:t>
            </a:r>
            <a:endParaRPr sz="1600"/>
          </a:p>
        </p:txBody>
      </p:sp>
      <p:sp>
        <p:nvSpPr>
          <p:cNvPr id="1651003982" name=""/>
          <p:cNvSpPr txBox="1"/>
          <p:nvPr/>
        </p:nvSpPr>
        <p:spPr bwMode="auto">
          <a:xfrm flipH="0" flipV="0">
            <a:off x="305887" y="194591"/>
            <a:ext cx="3646845" cy="366119"/>
          </a:xfrm>
          <a:prstGeom prst="rect">
            <a:avLst/>
          </a:prstGeom>
          <a:solidFill>
            <a:srgbClr val="EFDAF0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l">
              <a:defRPr/>
            </a:pPr>
            <a:r>
              <a:rPr lang="ru-RU" b="1"/>
              <a:t>Управление  охраной труда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 flipH="0" flipV="0">
            <a:off x="283123" y="700859"/>
            <a:ext cx="8603820" cy="5943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Обеспечение безопасности зданий и сооружений</a:t>
            </a:r>
            <a:r>
              <a:rPr lang="ru-RU" sz="1600"/>
              <a:t>, находящихся на территории  школы.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Обеспечение безопасности </a:t>
            </a:r>
            <a:r>
              <a:rPr lang="ru-RU" sz="1600"/>
              <a:t>образовательного процесса.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Тщательный отбор </a:t>
            </a:r>
            <a:r>
              <a:rPr lang="ru-RU" sz="1600"/>
              <a:t>сотрудников при приеме на работу.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Стабилизация </a:t>
            </a:r>
            <a:r>
              <a:rPr lang="ru-RU" sz="1600"/>
              <a:t>санитарно-гигиенических условий труда.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Обеспечение </a:t>
            </a:r>
            <a:r>
              <a:rPr lang="ru-RU" sz="1600"/>
              <a:t> сотрудников учреждения СИЗ.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Санитарно-бытовое обслуживание</a:t>
            </a:r>
            <a:r>
              <a:rPr lang="ru-RU" sz="1600"/>
              <a:t> сотрудников.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Обеспечение оптимальных режимов </a:t>
            </a:r>
            <a:r>
              <a:rPr lang="ru-RU" sz="1600"/>
              <a:t>труда и отдыха работников.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Широкое внедрение</a:t>
            </a:r>
            <a:r>
              <a:rPr lang="ru-RU" sz="1600"/>
              <a:t> положительного опыта в этом направлении.</a:t>
            </a:r>
            <a:endParaRPr sz="1600"/>
          </a:p>
          <a:p>
            <a:pPr>
              <a:defRPr/>
            </a:pPr>
            <a:endParaRPr sz="1600"/>
          </a:p>
          <a:p>
            <a:pPr>
              <a:defRPr/>
            </a:pPr>
            <a:r>
              <a:rPr lang="ru-RU" sz="1600"/>
              <a:t>Функции охраны труда в школе:</a:t>
            </a:r>
            <a:endParaRPr lang="ru-RU"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Организация и координация мероприятий</a:t>
            </a:r>
            <a:r>
              <a:rPr lang="ru-RU" sz="1600"/>
              <a:t> по обеспечению охраны труда.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Учет и оценка показателей</a:t>
            </a:r>
            <a:r>
              <a:rPr lang="ru-RU" sz="1600"/>
              <a:t> состояния охраны труда.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Планирование мероприятий</a:t>
            </a:r>
            <a:r>
              <a:rPr lang="ru-RU" sz="1600"/>
              <a:t> по охране труда.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Контроль состояния</a:t>
            </a:r>
            <a:r>
              <a:rPr lang="ru-RU" sz="1600"/>
              <a:t> охраны труда и функционирования СУОТ.</a:t>
            </a:r>
            <a:endParaRPr sz="1600"/>
          </a:p>
          <a:p>
            <a:pPr marL="261850" lvl="0" indent="-261850">
              <a:buFont typeface="Wingdings"/>
              <a:buChar char="ü"/>
              <a:defRPr/>
            </a:pPr>
            <a:r>
              <a:rPr lang="ru-RU" sz="1600" b="1"/>
              <a:t>Стимулирование </a:t>
            </a:r>
            <a:r>
              <a:rPr lang="ru-RU" sz="1600"/>
              <a:t>за проведение работ по охране труда.</a:t>
            </a:r>
            <a:endParaRPr sz="1600"/>
          </a:p>
          <a:p>
            <a:pPr algn="just">
              <a:defRPr/>
            </a:pPr>
            <a:r>
              <a:rPr lang="ru-RU" sz="1600"/>
              <a:t>	Устав школы в обязательном порядке должен включать в себя раздел, посвященный охране труда. В нем необходимо расписать, как организовывается система охраны труда: права и обязанности директора школы в этом направлении, а также главные мероприятия, которые нужно проводить.</a:t>
            </a:r>
            <a:endParaRPr sz="1600"/>
          </a:p>
          <a:p>
            <a:pPr algn="just">
              <a:defRPr/>
            </a:pPr>
            <a:r>
              <a:rPr lang="ru-RU" sz="1600"/>
              <a:t>	Ежегодно утверждается Приказ, которым назначаются сотрудники, на плечи которых ложится ответственность за охрану труда и технику безопасности, также в документе перечисляются члены комиссии по контролю за охраной труда и все преподаватели по кабинетам.</a:t>
            </a:r>
            <a:endParaRPr sz="1600"/>
          </a:p>
        </p:txBody>
      </p:sp>
      <p:sp>
        <p:nvSpPr>
          <p:cNvPr id="839479242" name=""/>
          <p:cNvSpPr txBox="1"/>
          <p:nvPr/>
        </p:nvSpPr>
        <p:spPr bwMode="auto">
          <a:xfrm flipH="0" flipV="0">
            <a:off x="305886" y="127767"/>
            <a:ext cx="7395830" cy="366119"/>
          </a:xfrm>
          <a:prstGeom prst="rect">
            <a:avLst/>
          </a:prstGeom>
          <a:solidFill>
            <a:srgbClr val="EFDAF0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Функции и задачи системы охраны труда в учреждении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 noGrp="1"/>
          </p:cNvPicPr>
          <p:nvPr>
            <p:ph idx="1"/>
          </p:nvPr>
        </p:nvPicPr>
        <p:blipFill>
          <a:blip r:embed="rId2"/>
          <a:srcRect l="27094" t="15595" r="19311" b="21863"/>
          <a:stretch/>
        </p:blipFill>
        <p:spPr bwMode="auto">
          <a:xfrm flipH="0" flipV="0">
            <a:off x="84012" y="79374"/>
            <a:ext cx="8975973" cy="6649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239027" y="220485"/>
            <a:ext cx="8713611" cy="656550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defRPr/>
            </a:pPr>
            <a:r>
              <a:rPr lang="ru-RU" sz="3100"/>
              <a:t>📋 </a:t>
            </a:r>
            <a:r>
              <a:rPr lang="ru-RU" sz="3100">
                <a:solidFill>
                  <a:schemeClr val="tx1"/>
                </a:solidFill>
              </a:rPr>
              <a:t>Новые документы по оказанию первой помощи</a:t>
            </a:r>
            <a:br>
              <a:rPr lang="ru-RU" sz="3100">
                <a:solidFill>
                  <a:schemeClr val="tx1"/>
                </a:solidFill>
              </a:rPr>
            </a:br>
            <a:r>
              <a:rPr lang="ru-RU" sz="3100">
                <a:solidFill>
                  <a:schemeClr val="tx1"/>
                </a:solidFill>
              </a:rPr>
              <a:t>🛡️ Обновленные требования к СИЗ и нормативы выдачи</a:t>
            </a:r>
            <a:br>
              <a:rPr lang="ru-RU" sz="3100">
                <a:solidFill>
                  <a:schemeClr val="tx1"/>
                </a:solidFill>
              </a:rPr>
            </a:br>
            <a:r>
              <a:rPr lang="ru-RU" sz="3100">
                <a:solidFill>
                  <a:schemeClr val="tx1"/>
                </a:solidFill>
              </a:rPr>
              <a:t>📝 Изменения в оценке </a:t>
            </a:r>
            <a:r>
              <a:rPr lang="ru-RU" sz="3100">
                <a:solidFill>
                  <a:schemeClr val="tx1"/>
                </a:solidFill>
              </a:rPr>
              <a:t>профрисков</a:t>
            </a:r>
            <a:r>
              <a:rPr lang="ru-RU" sz="3100">
                <a:solidFill>
                  <a:schemeClr val="tx1"/>
                </a:solidFill>
              </a:rPr>
              <a:t> </a:t>
            </a:r>
            <a:r>
              <a:rPr lang="ru-RU" sz="3100">
                <a:solidFill>
                  <a:schemeClr val="tx1"/>
                </a:solidFill>
              </a:rPr>
              <a:t>и СОУТ</a:t>
            </a:r>
            <a:br>
              <a:rPr lang="ru-RU" sz="3100">
                <a:solidFill>
                  <a:schemeClr val="tx1"/>
                </a:solidFill>
              </a:rPr>
            </a:br>
            <a:r>
              <a:rPr lang="ru-RU" sz="3100">
                <a:solidFill>
                  <a:schemeClr val="tx1"/>
                </a:solidFill>
              </a:rPr>
              <a:t>🔥 Изменения в пожарной безопасности</a:t>
            </a:r>
            <a:br>
              <a:rPr lang="ru-RU" sz="3100">
                <a:solidFill>
                  <a:schemeClr val="tx1"/>
                </a:solidFill>
              </a:rPr>
            </a:br>
            <a:endParaRPr sz="31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>
                <a:solidFill>
                  <a:schemeClr val="tx1"/>
                </a:solidFill>
              </a:rPr>
              <a:t>Главный вопрос: готовы ли ваши документы к этим изменениям?</a:t>
            </a:r>
            <a:br>
              <a:rPr lang="ru-RU">
                <a:solidFill>
                  <a:schemeClr val="tx1"/>
                </a:solidFill>
              </a:rPr>
            </a:br>
            <a:br>
              <a:rPr lang="ru-RU">
                <a:solidFill>
                  <a:schemeClr val="tx1"/>
                </a:solidFill>
              </a:rPr>
            </a:br>
            <a:r>
              <a:rPr lang="ru-RU">
                <a:solidFill>
                  <a:schemeClr val="tx1"/>
                </a:solidFill>
              </a:rPr>
              <a:t>ГИТ проверяет организации, которые работают </a:t>
            </a:r>
            <a:r>
              <a:rPr lang="ru-RU">
                <a:solidFill>
                  <a:schemeClr val="tx1"/>
                </a:solidFill>
              </a:rPr>
              <a:t>по старым инструкциям и положениям. Это прямой путь к штрафам при проверке.</a:t>
            </a:r>
            <a:br>
              <a:rPr lang="ru-RU">
                <a:solidFill>
                  <a:schemeClr val="tx1"/>
                </a:solidFill>
              </a:rPr>
            </a:br>
            <a:br>
              <a:rPr lang="ru-RU">
                <a:solidFill>
                  <a:schemeClr val="tx1"/>
                </a:solidFill>
              </a:rPr>
            </a:br>
            <a:r>
              <a:rPr lang="ru-RU">
                <a:solidFill>
                  <a:schemeClr val="tx1"/>
                </a:solidFill>
              </a:rPr>
              <a:t>В учреждении </a:t>
            </a:r>
            <a:r>
              <a:rPr lang="ru-RU">
                <a:solidFill>
                  <a:schemeClr val="tx1"/>
                </a:solidFill>
              </a:rPr>
              <a:t>все </a:t>
            </a:r>
            <a:r>
              <a:rPr lang="ru-RU">
                <a:solidFill>
                  <a:schemeClr val="tx1"/>
                </a:solidFill>
              </a:rPr>
              <a:t>документы актуализированы в соответствии с  новыми требованиями: обновлены инструкции по охране труда, нормы СИЗ по новым правилам, разработаны новые программы обучения, протоколы.</a:t>
            </a:r>
            <a:br>
              <a:rPr lang="ru-RU">
                <a:solidFill>
                  <a:schemeClr val="tx1"/>
                </a:solidFill>
              </a:rPr>
            </a:br>
            <a:br>
              <a:rPr lang="ru-RU">
                <a:solidFill>
                  <a:schemeClr val="tx1"/>
                </a:solidFill>
              </a:rPr>
            </a:br>
            <a:r>
              <a:rPr lang="ru-RU" sz="3400" b="1">
                <a:solidFill>
                  <a:schemeClr val="tx1"/>
                </a:solidFill>
              </a:rPr>
              <a:t>Проверьте себя прямо сейчас:</a:t>
            </a:r>
            <a:br>
              <a:rPr lang="ru-RU" sz="3400">
                <a:solidFill>
                  <a:schemeClr val="tx1"/>
                </a:solidFill>
              </a:rPr>
            </a:br>
            <a:r>
              <a:rPr lang="ru-RU" sz="3400">
                <a:solidFill>
                  <a:schemeClr val="tx1"/>
                </a:solidFill>
              </a:rPr>
              <a:t>	Учитывают ли ваши документы изменения 2024-25 года?</a:t>
            </a:r>
            <a:br>
              <a:rPr lang="ru-RU" sz="3400">
                <a:solidFill>
                  <a:schemeClr val="tx1"/>
                </a:solidFill>
              </a:rPr>
            </a:br>
            <a:r>
              <a:rPr lang="ru-RU" sz="3400">
                <a:solidFill>
                  <a:schemeClr val="tx1"/>
                </a:solidFill>
              </a:rPr>
              <a:t>	Актуальны ли программы обучения по новым правилам?</a:t>
            </a:r>
            <a:br>
              <a:rPr lang="ru-RU" sz="3400">
                <a:solidFill>
                  <a:schemeClr val="tx1"/>
                </a:solidFill>
              </a:rPr>
            </a:br>
            <a:r>
              <a:rPr lang="ru-RU" sz="3400">
                <a:solidFill>
                  <a:schemeClr val="tx1"/>
                </a:solidFill>
              </a:rPr>
              <a:t>	Соответствуют ли нормы СИЗ обновленным требованиям?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 flipH="0" flipV="0">
            <a:off x="7418055" y="5595947"/>
            <a:ext cx="1625572" cy="1107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199" y="185208"/>
            <a:ext cx="8229600" cy="987777"/>
          </a:xfrm>
          <a:prstGeom prst="rect">
            <a:avLst/>
          </a:prstGeom>
          <a:solidFill>
            <a:srgbClr val="F5D7F4"/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lang="ru-RU" sz="2400">
                <a:solidFill>
                  <a:schemeClr val="tx1"/>
                </a:solidFill>
                <a:latin typeface="Times New Roman"/>
                <a:cs typeface="Times New Roman"/>
              </a:rPr>
              <a:t>Специальная оценка условий труда  </a:t>
            </a:r>
            <a:br>
              <a:rPr lang="ru-RU" sz="240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ru-RU" sz="2400">
                <a:solidFill>
                  <a:schemeClr val="tx1"/>
                </a:solidFill>
                <a:latin typeface="Times New Roman"/>
                <a:cs typeface="Times New Roman"/>
              </a:rPr>
              <a:t>Декларирование рабочих мест на сайте </a:t>
            </a:r>
            <a:r>
              <a:rPr lang="ru-RU" sz="2400">
                <a:solidFill>
                  <a:schemeClr val="tx1"/>
                </a:solidFill>
                <a:latin typeface="Times New Roman"/>
                <a:cs typeface="Times New Roman"/>
              </a:rPr>
              <a:t>Минтруда</a:t>
            </a:r>
            <a:br>
              <a:rPr lang="ru-RU" sz="240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ru-RU" sz="22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https://declaration.rostrud.gov.ru/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/>
        </p:blipFill>
        <p:spPr bwMode="auto">
          <a:xfrm flipH="0" flipV="0">
            <a:off x="457199" y="1508124"/>
            <a:ext cx="8229600" cy="529166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 flipH="0" flipV="0">
            <a:off x="293485" y="1772707"/>
            <a:ext cx="8557029" cy="2834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/>
              <a:t>	Для проведения специальной оценки условий труда необходимо заключить договор с организацией, зарегистрированной в Минтруде. Необходимо тщательно проверять документы.                        </a:t>
            </a:r>
            <a:endParaRPr lang="ru-RU"/>
          </a:p>
          <a:p>
            <a:pPr algn="just">
              <a:defRPr/>
            </a:pPr>
            <a:r>
              <a:rPr lang="ru-RU"/>
              <a:t>	В учреждении проводила работу организация, сделавшая хорошую скидку, но пришлось в течение месяца каждый день редактировать документы, которые отправляла организация, спецоценка проводилась дистанционно. (870 руб. - 1 РМ)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 b="1"/>
              <a:t>	</a:t>
            </a:r>
            <a:endParaRPr lang="ru-RU" b="1"/>
          </a:p>
          <a:p>
            <a:pPr lvl="0" algn="just">
              <a:defRPr/>
            </a:pPr>
            <a:r>
              <a:rPr lang="ru-RU" b="0"/>
              <a:t> </a:t>
            </a:r>
            <a:endParaRPr b="0"/>
          </a:p>
        </p:txBody>
      </p:sp>
      <p:sp>
        <p:nvSpPr>
          <p:cNvPr id="240233499" name=""/>
          <p:cNvSpPr txBox="1"/>
          <p:nvPr/>
        </p:nvSpPr>
        <p:spPr bwMode="auto">
          <a:xfrm flipH="0" flipV="0">
            <a:off x="406509" y="169299"/>
            <a:ext cx="5267928" cy="1036679"/>
          </a:xfrm>
          <a:prstGeom prst="rect">
            <a:avLst/>
          </a:prstGeom>
          <a:solidFill>
            <a:srgbClr val="F5D7F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Совет </a:t>
            </a:r>
            <a:endParaRPr lang="ru-RU"/>
          </a:p>
          <a:p>
            <a:pPr algn="l">
              <a:defRPr/>
            </a:pPr>
            <a:endParaRPr sz="800" b="1"/>
          </a:p>
          <a:p>
            <a:pPr algn="l">
              <a:defRPr/>
            </a:pPr>
            <a:r>
              <a:rPr lang="ru-RU" b="1" i="1"/>
              <a:t>С чего начать работу по проведению спецоценки</a:t>
            </a:r>
            <a:endParaRPr lang="ru-RU"/>
          </a:p>
        </p:txBody>
      </p:sp>
      <p:pic>
        <p:nvPicPr>
          <p:cNvPr id="1689965922" name=""/>
          <p:cNvPicPr>
            <a:picLocks noChangeAspect="1"/>
          </p:cNvPicPr>
          <p:nvPr/>
        </p:nvPicPr>
        <p:blipFill>
          <a:blip r:embed="rId2"/>
          <a:srcRect l="63788" t="36659" r="28455" b="47153"/>
          <a:stretch/>
        </p:blipFill>
        <p:spPr bwMode="auto">
          <a:xfrm flipH="0" flipV="0">
            <a:off x="5674436" y="169298"/>
            <a:ext cx="1087859" cy="12770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190916" name=""/>
          <p:cNvSpPr txBox="1"/>
          <p:nvPr/>
        </p:nvSpPr>
        <p:spPr bwMode="auto">
          <a:xfrm flipH="0" flipV="0">
            <a:off x="265660" y="626180"/>
            <a:ext cx="8639101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ru-RU" b="1"/>
              <a:t> 	</a:t>
            </a:r>
            <a:r>
              <a:rPr lang="ru-RU" sz="1600"/>
              <a:t>Вход в систему Личного кабинета Охраны труда (ЛКОТ) можно осуществить в три простых шага. </a:t>
            </a:r>
            <a:r>
              <a:rPr lang="ru-RU" sz="1600" b="0"/>
              <a:t>В нашем случае - с прикреплением сертификата ЭЦП. Нужно самостоятельно внести наименование предприятия, его юридический и фактический адрес, ИНН, при наличии — ОГРН. Если используется плагин «</a:t>
            </a:r>
            <a:r>
              <a:rPr lang="ru-RU" sz="1600" b="0"/>
              <a:t>КриптоПро</a:t>
            </a:r>
            <a:r>
              <a:rPr lang="ru-RU" sz="1600" b="0"/>
              <a:t>», система сама посчитает с него информацию о работодателе. У нас ЭЦП был оформлен на год на одного из специалиста по охране труда.</a:t>
            </a:r>
            <a:endParaRPr sz="1600" b="1"/>
          </a:p>
        </p:txBody>
      </p:sp>
      <p:sp>
        <p:nvSpPr>
          <p:cNvPr id="1128883066" name=""/>
          <p:cNvSpPr txBox="1"/>
          <p:nvPr/>
        </p:nvSpPr>
        <p:spPr bwMode="auto">
          <a:xfrm flipH="0" flipV="0">
            <a:off x="265660" y="168133"/>
            <a:ext cx="4366350" cy="366119"/>
          </a:xfrm>
          <a:prstGeom prst="rect">
            <a:avLst/>
          </a:prstGeom>
          <a:solidFill>
            <a:srgbClr val="F5D7F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Декларирование на сайте Минтруда</a:t>
            </a:r>
            <a:endParaRPr lang="ru-RU" b="1"/>
          </a:p>
        </p:txBody>
      </p:sp>
      <p:sp>
        <p:nvSpPr>
          <p:cNvPr id="692457166" name=""/>
          <p:cNvSpPr txBox="1"/>
          <p:nvPr/>
        </p:nvSpPr>
        <p:spPr bwMode="auto">
          <a:xfrm flipH="0" flipV="0">
            <a:off x="124374" y="2235834"/>
            <a:ext cx="8848062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ru-RU" sz="1600" b="1"/>
              <a:t>Шаг 1.</a:t>
            </a:r>
            <a:r>
              <a:rPr lang="ru-RU" sz="1600"/>
              <a:t> Сначала необходимо авторизоваться в личном кабинете. 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этого перейдите на сайт 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https://lkot.mintrud.gov.ru</a:t>
            </a:r>
            <a:r>
              <a:rPr sz="1600" u="none">
                <a:solidFill>
                  <a:schemeClr val="tx1"/>
                </a:solidFill>
              </a:rPr>
              <a:t> и нажмите 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кнопку «Вход в систему». После этого вы будете перенаправлены на страницу входа в Единую систему идентификации и аутентификации (ЕСИА). Введите свои учётные данные и нажмите кнопку «Войти». Вам будет предоставлен доступ в ЛКОТ, где вы сможете увидеть список доступных организаций.</a:t>
            </a:r>
            <a:endParaRPr sz="1600" u="none">
              <a:solidFill>
                <a:schemeClr val="tx1"/>
              </a:solidFill>
            </a:endParaRPr>
          </a:p>
          <a:p>
            <a:pPr algn="just">
              <a:defRPr/>
            </a:pPr>
            <a:endParaRPr sz="1600" u="none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ru-RU" sz="16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Шаг 2.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Получение прав доступа администратора в выбранной организации. Выберите организацию,  в ЛКОТ. Пользователям с ролью «Руководитель организации» на Едином портале государственных и муниципальных услуг (ЕПГУ) автоматически предоставляются административные права доступа. В случае, если требуемая роль отсутствует, система выведет соответствующее сообщение об ошибке.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Подробные параметры доступа можно проверить на странице «Профиль организации / сотрудники».</a:t>
            </a:r>
            <a:endParaRPr sz="1600" u="none">
              <a:solidFill>
                <a:schemeClr val="tx1"/>
              </a:solidFill>
            </a:endParaRPr>
          </a:p>
          <a:p>
            <a:pPr algn="just">
              <a:defRPr/>
            </a:pPr>
            <a:endParaRPr sz="1600" b="1" u="none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ru-RU" sz="16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Шаг 3.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Предоставление доступа сотрудникам вашей организации. 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этого в меню пользователя администратор организации переходит в раздел «Администрирование». В этом разделе необходимо установить флажки для тех полномочий, которыми должны обладать добавляемые сотрудники в ЛКОТ, после чего нажать кнопку «Сохранить».</a:t>
            </a:r>
            <a:endParaRPr sz="1600" u="none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 flipH="0" flipV="0">
            <a:off x="178252" y="599722"/>
            <a:ext cx="8805854" cy="593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Найти в первой графе перечня рабочих мест из отчёта о СОУТ индивидуальный номер рабочего места, которое декларируется, и указать его в соответствующей графе. Номера аналогичных рабочих мест помечаются прописной буквой «А».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Внести наименования должностей, профессий или специальностей и численность работников, занятых на данном рабочем месте. Эти данные переносятся из карты СОУТ.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Добавлять новые строки для рабочих мест с помощью пиктограммы «+» в правом углу формы. Если наименование должности совпадает с предыдущим, продублировать строку при помощи кнопки «Копировать».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Указать реквизиты документа, на основании которого подаётся декларация: наименование, номер и дату заключения эксперта, протокола исследований и измерений.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Внести данные организации, которая проводила СОУТ: указать её наименование и регистрационный номер из реестра Минтруда.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Пропустить строку с датой составления декларации: её сервис заполняет автоматически.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Ввести Ф.И.О. того, кто подписывает декларацию, и регион, где декларируется соответствие. Строка для e-</a:t>
            </a:r>
            <a:r>
              <a:rPr lang="ru-RU" sz="1400" b="0"/>
              <a:t>mail</a:t>
            </a:r>
            <a:r>
              <a:rPr lang="ru-RU" sz="1400" b="0"/>
              <a:t> не обязательная, но её можно заполнить, чтобы получать уведомление о статусе документа.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Кликнуть на «Далее», когда заполнены все поля. Если пропустить обязательные строки, система не пропустит на следующий этап и подсветит их красной рамкой.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Проверить данные на предпросмотре заполненной формы. Если нужно исправить ошибки, использовать кнопку «Изменить».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Подписать декларацию ЭЦП.  Если подписывается декларация по доверенности руководителя, нужно приложить доверенность, указать её номер и срок действия.</a:t>
            </a:r>
            <a:endParaRPr lang="ru-RU" sz="1400" b="0"/>
          </a:p>
          <a:p>
            <a:pPr marL="261850" lvl="0" indent="-261850">
              <a:spcAft>
                <a:spcPts val="566"/>
              </a:spcAft>
              <a:buAutoNum type="arabicPeriod"/>
              <a:defRPr/>
            </a:pPr>
            <a:r>
              <a:rPr lang="ru-RU" sz="1400" b="0"/>
              <a:t>Кликнуть на кнопку «Подать декларацию на рассмотрение», и сервис направит документ в ГИТ региона.</a:t>
            </a:r>
            <a:endParaRPr lang="ru-RU" sz="1400" b="0"/>
          </a:p>
        </p:txBody>
      </p:sp>
      <p:sp>
        <p:nvSpPr>
          <p:cNvPr id="715331779" name=""/>
          <p:cNvSpPr txBox="1"/>
          <p:nvPr/>
        </p:nvSpPr>
        <p:spPr bwMode="auto">
          <a:xfrm flipH="0" flipV="0">
            <a:off x="274111" y="119168"/>
            <a:ext cx="5990036" cy="366119"/>
          </a:xfrm>
          <a:prstGeom prst="rect">
            <a:avLst/>
          </a:prstGeom>
          <a:solidFill>
            <a:srgbClr val="F5D7F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l">
              <a:defRPr/>
            </a:pPr>
            <a:r>
              <a:rPr lang="ru-RU" b="1"/>
              <a:t>Алгоритм  заполнения декларации вручную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30880" y="133526"/>
            <a:ext cx="5981897" cy="413277"/>
          </a:xfrm>
          <a:prstGeom prst="rect">
            <a:avLst/>
          </a:prstGeom>
          <a:solidFill>
            <a:srgbClr val="F5D7F4"/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ru-RU" sz="1800" b="1">
                <a:solidFill>
                  <a:schemeClr val="tx1"/>
                </a:solidFill>
              </a:rPr>
              <a:t>Обучение и проверка знаний</a:t>
            </a:r>
            <a:r>
              <a:rPr lang="ru-RU" b="1"/>
              <a:t> </a:t>
            </a:r>
            <a:endParaRPr lang="ru-RU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rcRect l="17768" t="10559" r="19075" b="36"/>
          <a:stretch/>
        </p:blipFill>
        <p:spPr bwMode="auto">
          <a:xfrm flipH="0" flipV="0">
            <a:off x="285750" y="758471"/>
            <a:ext cx="8572500" cy="598289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 flipH="0" flipV="0">
            <a:off x="282279" y="1658055"/>
            <a:ext cx="8671798" cy="502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1"/>
              <a:t>	</a:t>
            </a:r>
            <a:r>
              <a:rPr lang="ru-RU"/>
              <a:t>Сначала нужно издать приказ об обучении комиссии (мы обучили 3 человека в обучающем центре по программам А и Б). </a:t>
            </a:r>
            <a:endParaRPr lang="ru-RU"/>
          </a:p>
          <a:p>
            <a:pPr algn="just">
              <a:defRPr/>
            </a:pPr>
            <a:r>
              <a:rPr lang="ru-RU"/>
              <a:t>	Потом мы сдавали экзамены на сайте </a:t>
            </a:r>
            <a:r>
              <a:rPr lang="ru-RU"/>
              <a:t>Минтруда</a:t>
            </a:r>
            <a:r>
              <a:rPr lang="ru-RU"/>
              <a:t>,  как  специалисты, которые будут сами обучать своих сотрудников. Сдается более 1000 тестов,  сдавать их можно неограниченное количество, пока не наберёте 90 баллов.  	Затем мы разработали программу по обучению (А, Б и В).  	Направили уведомление о принятии решения обучать всех сотрудников самостоятельно.</a:t>
            </a:r>
            <a:endParaRPr lang="ru-RU"/>
          </a:p>
          <a:p>
            <a:pPr algn="just">
              <a:defRPr/>
            </a:pPr>
            <a:r>
              <a:rPr lang="ru-RU"/>
              <a:t>	Уведомление должно содержать перечень вопросов, указанных в пункте 106 правил, утвержденных постановлением Правительства от 24.12.2021 № 2464. </a:t>
            </a:r>
            <a:endParaRPr lang="ru-RU"/>
          </a:p>
          <a:p>
            <a:pPr algn="just">
              <a:defRPr/>
            </a:pPr>
            <a:r>
              <a:rPr lang="ru-RU"/>
              <a:t>	В течение 5 рабочих дней после отправки уведомления Минтруд России осуществит регистрацию работодателя в реестре, как самостоятельного учреждения, готового обучать своих сотрудников.</a:t>
            </a:r>
            <a:br>
              <a:rPr lang="ru-RU"/>
            </a:br>
            <a:br>
              <a:rPr lang="ru-RU"/>
            </a:br>
            <a:r>
              <a:rPr lang="ru-RU"/>
              <a:t>	Для авторизации в личном кабинете необходимо пройти по ссылке </a:t>
            </a:r>
            <a:r>
              <a:rPr lang="ru-RU" u="sng">
                <a:hlinkClick r:id="rId2" tooltip="https://lkot.mintrud.gov.ru/"/>
              </a:rPr>
              <a:t>https://lkot.mintrud.gov.ru/</a:t>
            </a:r>
            <a:r>
              <a:rPr lang="ru-RU"/>
              <a:t>   и нажать кнопку «Вход в систему».</a:t>
            </a:r>
            <a:br>
              <a:rPr lang="ru-RU"/>
            </a:br>
            <a:endParaRPr lang="ru-RU"/>
          </a:p>
        </p:txBody>
      </p:sp>
      <p:pic>
        <p:nvPicPr>
          <p:cNvPr id="532219379" name="Picture 2" descr="C:\Documents and Settings\пользователь\Рабочий стол\DSC_0008.jpg"/>
          <p:cNvPicPr>
            <a:picLocks noChangeAspect="1" noChangeArrowheads="1"/>
          </p:cNvPicPr>
          <p:nvPr/>
        </p:nvPicPr>
        <p:blipFill>
          <a:blip r:embed="rId3"/>
          <a:srcRect l="0" t="5222" r="0" b="16101"/>
          <a:stretch/>
        </p:blipFill>
        <p:spPr bwMode="auto">
          <a:xfrm flipH="0" flipV="0">
            <a:off x="6589027" y="100681"/>
            <a:ext cx="2272691" cy="1476141"/>
          </a:xfrm>
          <a:prstGeom prst="rect">
            <a:avLst/>
          </a:prstGeom>
          <a:noFill/>
        </p:spPr>
      </p:pic>
      <p:sp>
        <p:nvSpPr>
          <p:cNvPr id="156653349" name=""/>
          <p:cNvSpPr txBox="1"/>
          <p:nvPr/>
        </p:nvSpPr>
        <p:spPr bwMode="auto">
          <a:xfrm flipH="0" flipV="0">
            <a:off x="282279" y="100681"/>
            <a:ext cx="6140257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ru-RU" b="1"/>
              <a:t>	Все сотрудники школы </a:t>
            </a:r>
            <a:r>
              <a:rPr lang="ru-RU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в 2024 году</a:t>
            </a:r>
            <a:r>
              <a:rPr lang="ru-RU" b="1"/>
              <a:t> обучены по охране труда с проверкой знаний без отрыва от работы по утвержденным программам и  тестам. Результаты обучения сотрудников внесены по</a:t>
            </a:r>
            <a:r>
              <a:rPr lang="ru-RU" b="1"/>
              <a:t>фамильно</a:t>
            </a:r>
            <a:r>
              <a:rPr lang="ru-RU" b="1"/>
              <a:t> на сайте Минтруда. 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>
            <a:off x="251518" y="260646"/>
            <a:ext cx="8667598" cy="5852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/>
              <a:t>	Поскольку вход в личный кабинет будет осуществляться через Единую систему идентификации и авторизации (ЕСИА), будет выполнена переадресация на страницу входа на портал </a:t>
            </a:r>
            <a:r>
              <a:rPr lang="ru-RU"/>
              <a:t>Госуслуги</a:t>
            </a:r>
            <a:r>
              <a:rPr lang="ru-RU"/>
              <a:t>.</a:t>
            </a:r>
            <a:br>
              <a:rPr lang="ru-RU"/>
            </a:br>
            <a:br>
              <a:rPr lang="ru-RU"/>
            </a:br>
            <a:r>
              <a:rPr lang="ru-RU"/>
              <a:t>	Учебные центры, которые не прошли аккредитацию по новым правилам (постановление Правительства РФ от 16.12.2021 № 2334), не смогут обучать работников.</a:t>
            </a:r>
            <a:endParaRPr lang="ru-RU"/>
          </a:p>
          <a:p>
            <a:pPr algn="just">
              <a:defRPr/>
            </a:pPr>
            <a:endParaRPr lang="ru-RU"/>
          </a:p>
          <a:p>
            <a:pPr algn="just">
              <a:defRPr/>
            </a:pPr>
            <a:r>
              <a:rPr lang="ru-RU"/>
              <a:t>	Чтобы исключить такую вероятность, рекомендуем перед заключением договора на обучение комиссии по охране труда проверить учебный центр в реестре аккредитованных организаций, оказывающих услуги в области охраны труда, для этого необходимо:</a:t>
            </a:r>
            <a:endParaRPr lang="ru-RU"/>
          </a:p>
          <a:p>
            <a:pPr algn="just">
              <a:defRPr/>
            </a:pPr>
            <a:r>
              <a:rPr lang="ru-RU"/>
              <a:t>	-перейти на сайт реестра Минтруда по ссылке </a:t>
            </a:r>
            <a:r>
              <a:rPr lang="ru-RU" u="sng">
                <a:hlinkClick r:id="rId2" tooltip="http://akot.rosmintrud.ru/ot/organizations"/>
              </a:rPr>
              <a:t>http://akot.rosmintrud.ru/ot/organizations</a:t>
            </a:r>
            <a:r>
              <a:rPr lang="ru-RU"/>
              <a:t>; </a:t>
            </a:r>
            <a:br>
              <a:rPr lang="ru-RU"/>
            </a:br>
            <a:r>
              <a:rPr lang="ru-RU"/>
              <a:t>	-выбрать раздел «Обучение работодателей и работников вопросам охраны труда»;</a:t>
            </a:r>
            <a:endParaRPr lang="ru-RU"/>
          </a:p>
          <a:p>
            <a:pPr algn="just">
              <a:defRPr/>
            </a:pPr>
            <a:r>
              <a:rPr lang="ru-RU"/>
              <a:t>	-ввести ИНН или другие данные учебного центра;</a:t>
            </a:r>
            <a:endParaRPr lang="ru-RU"/>
          </a:p>
          <a:p>
            <a:pPr algn="just">
              <a:defRPr/>
            </a:pPr>
            <a:r>
              <a:rPr lang="ru-RU"/>
              <a:t>	-нажать кнопку «Найти»;</a:t>
            </a:r>
            <a:endParaRPr lang="ru-RU"/>
          </a:p>
          <a:p>
            <a:pPr algn="just">
              <a:defRPr/>
            </a:pPr>
            <a:r>
              <a:rPr lang="ru-RU"/>
              <a:t>	-найти в графе «Полное наименование организации» зеленую сноску: </a:t>
            </a:r>
            <a:r>
              <a:rPr lang="ru-RU" b="0"/>
              <a:t>«Организация соответствует требованиям постановления Правительства Российской Федерации от 16.12.2021 № 2334 по обучению».</a:t>
            </a:r>
            <a:endParaRPr b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0" name=""/>
          <p:cNvGraphicFramePr>
            <a:graphicFrameLocks xmlns:a="http://schemas.openxmlformats.org/drawingml/2006/main"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8165137" y="5893458"/>
          <a:ext cx="774700" cy="685800"/>
        </p:xfrm>
        <a:graphic>
          <a:graphicData uri="http://schemas.openxmlformats.org/presentationml/2006/ole">
            <p:oleObj name="oleObj" r:id="rId3" imgW="774065" imgH="685800" showAsIcon="1" progId="Package">
              <p:embed/>
              <p:pic>
                <p:nvPicPr>
                  <p:cNvPr id="11267" name=""/>
                  <p:cNvPicPr/>
                  <p:nvPr/>
                </p:nvPicPr>
                <p:blipFill>
                  <a:blip r:embed="rId2"/>
                  <a:stretch/>
                </p:blipFill>
                <p:spPr bwMode="auto">
                  <a:xfrm>
                    <a:off x="8165137" y="5893458"/>
                    <a:ext cx="774700" cy="685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5" name="Рисунок 4"/>
          <p:cNvPicPr/>
          <p:nvPr/>
        </p:nvPicPr>
        <p:blipFill>
          <a:blip r:embed="rId4"/>
          <a:srcRect l="1712" t="5353" r="51339" b="37033"/>
          <a:stretch/>
        </p:blipFill>
        <p:spPr bwMode="auto">
          <a:xfrm flipH="0" flipV="0">
            <a:off x="425198" y="225370"/>
            <a:ext cx="8293600" cy="575421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230208" y="185208"/>
            <a:ext cx="5459235" cy="414513"/>
          </a:xfrm>
          <a:prstGeom prst="rect">
            <a:avLst/>
          </a:prstGeom>
          <a:solidFill>
            <a:srgbClr val="F5D7F4"/>
          </a:solidFill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 algn="l">
              <a:defRPr/>
            </a:pPr>
            <a:r>
              <a:rPr lang="ru-RU" sz="1800" b="1">
                <a:solidFill>
                  <a:schemeClr val="tx1"/>
                </a:solidFill>
              </a:rPr>
              <a:t>Планирование </a:t>
            </a:r>
            <a:r>
              <a:rPr lang="ru-RU" sz="1800" b="1">
                <a:solidFill>
                  <a:schemeClr val="tx1"/>
                </a:solidFill>
              </a:rPr>
              <a:t>мероприятий по охране труда </a:t>
            </a:r>
            <a:endParaRPr b="1"/>
          </a:p>
        </p:txBody>
      </p:sp>
      <p:sp>
        <p:nvSpPr>
          <p:cNvPr id="3" name="Прямоугольник 2"/>
          <p:cNvSpPr/>
          <p:nvPr/>
        </p:nvSpPr>
        <p:spPr bwMode="auto">
          <a:xfrm flipH="0" flipV="0">
            <a:off x="230208" y="776111"/>
            <a:ext cx="8681223" cy="5578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/>
              <a:t>	</a:t>
            </a:r>
            <a:r>
              <a:rPr lang="ru-RU">
                <a:latin typeface="Arial"/>
                <a:ea typeface="Arial"/>
                <a:cs typeface="Arial"/>
              </a:rPr>
              <a:t>Разработан перспективный план мероприятий до 2030 года в соответствии с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Типовым 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план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ом 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мероприятий 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 улучшению условий и охраны труда, ликвидации или снижению уровней профессиональных рисков и недопущению повышения их уровней</a:t>
            </a:r>
            <a:r>
              <a:rPr lang="ru-RU" b="0"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(ст. 214 ТК и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Приказ 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Минтруда от 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29.10.2021 №771н</a:t>
            </a:r>
            <a:r>
              <a:rPr lang="ru-RU" sz="18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lang="ru-RU" b="0">
                <a:latin typeface="Arial"/>
                <a:ea typeface="Arial"/>
                <a:cs typeface="Arial"/>
              </a:rPr>
              <a:t>.</a:t>
            </a:r>
            <a:r>
              <a:rPr lang="ru-RU">
                <a:latin typeface="Arial"/>
                <a:ea typeface="Arial"/>
                <a:cs typeface="Arial"/>
              </a:rPr>
              <a:t> </a:t>
            </a:r>
            <a:endParaRPr>
              <a:latin typeface="Arial"/>
              <a:cs typeface="Arial"/>
            </a:endParaRPr>
          </a:p>
          <a:p>
            <a:pPr algn="just">
              <a:defRPr/>
            </a:pPr>
            <a:r>
              <a:rPr lang="ru-RU"/>
              <a:t>	</a:t>
            </a:r>
            <a:r>
              <a:rPr lang="ru-RU">
                <a:solidFill>
                  <a:schemeClr val="tx1"/>
                </a:solidFill>
              </a:rPr>
              <a:t>На официальном сайте администрации города в разделе Охрана труда / Методические пособия размещены методические рекомендации «</a:t>
            </a:r>
            <a:r>
              <a:rPr sz="18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 определить мероприятия по охране труда и спланировать бюджет на 2026 год».</a:t>
            </a:r>
            <a:r>
              <a:rPr lang="ru-RU" sz="180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sz="1800">
              <a:solidFill>
                <a:schemeClr val="tx1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ru-RU">
                <a:solidFill>
                  <a:schemeClr val="tx1"/>
                </a:solidFill>
              </a:rPr>
              <a:t>	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 перспективном плане мероприятий до 2030 года </a:t>
            </a:r>
            <a:r>
              <a:rPr lang="ru-RU">
                <a:solidFill>
                  <a:schemeClr val="tx1"/>
                </a:solidFill>
              </a:rPr>
              <a:t>запланированы денежные средства: </a:t>
            </a:r>
            <a:endParaRPr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ru-RU">
                <a:solidFill>
                  <a:schemeClr val="tx1"/>
                </a:solidFill>
              </a:rPr>
              <a:t>	на реализацию программы произво</a:t>
            </a:r>
            <a:r>
              <a:rPr lang="ru-RU"/>
              <a:t>дственного контроля (измерение световой среды, влажности, освещенности и т.д.);</a:t>
            </a:r>
            <a:endParaRPr lang="ru-RU"/>
          </a:p>
          <a:p>
            <a:pPr algn="just">
              <a:defRPr/>
            </a:pPr>
            <a:r>
              <a:rPr lang="ru-RU"/>
              <a:t>	на приобретение СИЗ;</a:t>
            </a:r>
            <a:endParaRPr lang="ru-RU"/>
          </a:p>
          <a:p>
            <a:pPr algn="just">
              <a:defRPr/>
            </a:pPr>
            <a:r>
              <a:rPr lang="ru-RU"/>
              <a:t>	на организацию</a:t>
            </a:r>
            <a:r>
              <a:rPr lang="ru-RU" sz="1800"/>
              <a:t> </a:t>
            </a:r>
            <a:r>
              <a:rPr sz="18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профессиональной гигиенической подготовки работников учреждения</a:t>
            </a:r>
            <a:r>
              <a:rPr lang="ru-RU" sz="1800" b="0">
                <a:solidFill>
                  <a:schemeClr val="tx1"/>
                </a:solidFill>
              </a:rPr>
              <a:t>;</a:t>
            </a:r>
            <a:endParaRPr lang="ru-RU" sz="1800" b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ru-RU" sz="1800" b="0">
                <a:solidFill>
                  <a:schemeClr val="tx1"/>
                </a:solidFill>
              </a:rPr>
              <a:t>	на проведение предварительных и периодических медицинских осмотров;</a:t>
            </a:r>
            <a:endParaRPr lang="ru-RU" sz="1800" b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ru-RU" sz="1800" b="0">
                <a:solidFill>
                  <a:schemeClr val="tx1"/>
                </a:solidFill>
              </a:rPr>
              <a:t>	</a:t>
            </a:r>
            <a:r>
              <a:rPr lang="ru-RU"/>
              <a:t>на реализацию программных мероприятий. </a:t>
            </a:r>
            <a:endParaRPr lang="ru-RU" sz="1800" b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ru-RU" b="1"/>
              <a:t>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446123" name=""/>
          <p:cNvSpPr txBox="1"/>
          <p:nvPr/>
        </p:nvSpPr>
        <p:spPr bwMode="auto">
          <a:xfrm flipH="0" flipV="0">
            <a:off x="80277" y="70555"/>
            <a:ext cx="8949579" cy="594720"/>
          </a:xfrm>
          <a:prstGeom prst="rect">
            <a:avLst/>
          </a:prstGeom>
          <a:solidFill>
            <a:srgbClr val="F5D7F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449262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Полный перечень обязательных мероприятий, </a:t>
            </a:r>
            <a:r>
              <a:rPr lang="ru-RU" sz="11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требования законодательства и ответственность, </a:t>
            </a:r>
            <a:endParaRPr sz="11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449262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которая грозит работодателю за их неисполнение</a:t>
            </a:r>
            <a:r>
              <a:rPr lang="ru-RU" sz="11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sz="11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449262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Times New Roman"/>
                <a:cs typeface="Times New Roman"/>
              </a:rPr>
              <a:t>Перечень составлен на основе части 3 статьи 214 ТК РФ и приказа Минтруда от 29.10.2021 №771н</a:t>
            </a:r>
            <a:endParaRPr sz="11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graphicFrame>
        <p:nvGraphicFramePr>
          <p:cNvPr id="2120666743" name=""/>
          <p:cNvGraphicFramePr>
            <a:graphicFrameLocks xmlns:a="http://schemas.openxmlformats.org/drawingml/2006/main"/>
          </p:cNvGraphicFramePr>
          <p:nvPr/>
        </p:nvGraphicFramePr>
        <p:xfrm>
          <a:off x="80277" y="736952"/>
          <a:ext cx="8896599" cy="1517885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{D7AC3CCA-C797-4891-BE02-D94E43425B78}</a:tableStyleId>
              </a:tblPr>
              <a:tblGrid>
                <a:gridCol w="2250000"/>
                <a:gridCol w="3240000"/>
                <a:gridCol w="3493133"/>
              </a:tblGrid>
              <a:tr h="450149">
                <a:tc>
                  <a:txBody>
                    <a:bodyPr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Мероприятия по охране труда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Нормативное обоснование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Штраф, который грозит, если не провести мероприятие</a:t>
                      </a:r>
                      <a:endParaRPr sz="12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vert="horz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464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1.Специальная оценка условий труда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</a:rPr>
                        <a:t>Абзац 12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 части 3 статьи 214 ТК;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</a:rPr>
                        <a:t>п.1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 части 2 статьи 4 Закона от 28.12.2013 № 426-ФЗ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10 000 руб. – на директора, 80 000 руб. – на организацию (ч.2 ст.5.27.1 КоАП)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59704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2. Оценка профессиональных рисков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4 части 3 статьи 214; </a:t>
                      </a:r>
                      <a:r>
                        <a:rPr sz="900">
                          <a:latin typeface="Arial"/>
                          <a:ea typeface="Arial"/>
                          <a:cs typeface="Arial"/>
                        </a:rPr>
                        <a:t>примерное положение о СУОТ (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приказ Минтруда от 29.10.2021 №776н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(ч.1 ст.5.27.1 КоАП)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06784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3. Улучшение условий труда по итогам спецоценки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Пункт 6 части 2 статьи 4 Закона от 28.12.2013 № 426-ФЗ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(ч.1 ст.5.27.1 КоАП)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91024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4.Обязательные предварительные и периодические медосмотры 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13 части 3 статьи 214 ТК;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8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части 1 статьи 216 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25 000 руб. – на директора, 130 000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(ч.3  ст.5.27.1 КоАП)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481024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5.Обучение, инструктажи, проверка знаний по охране труда  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latin typeface="Arial"/>
                          <a:ea typeface="Arial"/>
                          <a:cs typeface="Arial"/>
                        </a:rPr>
                        <a:t>Абзац 10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части 3 статьи 214 ТК;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 статьи 219 ТК; пункт 1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раздела I постановления Правительства от 24.12.2021 № 2464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25 000 руб. – на директора, 130 000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(ч.3  ст.5.27.1 КоАП)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6000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6. Обучение оказанию первой помощи пострадавшим на производстве 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Абзац 10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части 3 статьи 214 ТК; </a:t>
                      </a:r>
                      <a:r>
                        <a:rPr lang="ru-RU" sz="9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абзац 6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части 1 статьи 216 ТК; </a:t>
                      </a:r>
                      <a:r>
                        <a:rPr lang="ru-RU" sz="9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Абзац 1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статьи 219 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25 000 руб. – на директора, 130 000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(ч.3  ст.5.27.1 КоАП)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630126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7.Разработка и утверждение инструкции по охране труда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Абзац 23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части 3 статьи 214 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раздел </a:t>
                      </a:r>
                      <a:r>
                        <a:rPr lang="en-US"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III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приказа Минтруда от 29.10.2021 № 772н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пункт 18 раздела II постановления Правительства от 24.12.2021 № 2464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725104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8. Приобретение спецодежды, спецобуви и других средств индивидуальной защиты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8 части 3 статьи 214 ТК;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статья 221 ТК;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пункты 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 и 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 приказа Минтруда от 29.10.2021 № 766н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Если работников не обеспечили СИЗ, которые относятся ко 2-му классу согласноТР ТС 019/2011,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директору грозит штраф 30 000 руб., организации – 150 000 руб.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(ч.4  ст.5.27.1 КоАП)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. В ином случае директору грозит штраф 5000 руб., а организации – 80 000 руб.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97864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9. Приобретение смывающих и обезвреживающих средств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8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части 3 статьи 214 ТК;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статья 221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ТК;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пункты 3, 4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 и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35 приказа Минтруда от 29.10.2021 № 766н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30 000 руб. – на директора, 150 000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6000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10. Хранение и уход за СИЗ  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Статья 221 ТК;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подпункты 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 и 11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 пункта 10 приказа Минтруда от 29.10.2021 № 766н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44424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11. Обеспечение работников лечебно-профилактическим питанием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Статья 222 ТК;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пункт 4 приложения 3 приказа Минтруда от 16.05.2022 № 298н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9132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12. Санаторно-курортное лечение работников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3 части 1 статьи 8 Закона от 24.07.1998 №125-ФЗ;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10 части 2 ст.17Закона от 24.07.1998 №125-ФЗ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18599957" name=""/>
          <p:cNvGraphicFramePr>
            <a:graphicFrameLocks xmlns:a="http://schemas.openxmlformats.org/drawingml/2006/main"/>
          </p:cNvGraphicFramePr>
          <p:nvPr/>
        </p:nvGraphicFramePr>
        <p:xfrm>
          <a:off x="80276" y="128410"/>
          <a:ext cx="8995832" cy="714976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{D7AC3CCA-C797-4891-BE02-D94E43425B78}</a:tableStyleId>
              </a:tblPr>
              <a:tblGrid>
                <a:gridCol w="2250000"/>
                <a:gridCol w="3240000"/>
                <a:gridCol w="3493132"/>
              </a:tblGrid>
              <a:tr h="37270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13. Приобретение аптечек для оказания первой помощи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18 части 3 статьи 214 ТК;</a:t>
                      </a:r>
                      <a:endParaRPr sz="9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 часть 1 статьи 216.3 ТК</a:t>
                      </a:r>
                      <a:endParaRPr sz="9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 b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 b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45000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14. Оборудование помещений для оказания медицинской помощи или создание санитарных постов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18 части 3 статьи 214 ТК;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часть 1статьи 216.3 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9708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15. Производственный контроль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 части 1 статьи 214 ТК;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пункт 3 статьи 39 и статья 32 Закона от 30.03.1999 №52-ФЗ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1000 руб. на директора, 20 000 руб. или приостановление деятельности на 90 суток – для организации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(ст.6.3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6000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16. Установка средств коллективной защиты  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9 части 3 статьи 214 ТК;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Статья 225  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71424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17.Нанесение на производственное оборудование, элементы конструкций и другие объекты сигнальных цветов и знаков безопасности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 части 3 статьи 214 ТК;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 пункта 78 Правил, утвержденных приказом Минтруда от 27.11.2020 №833н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632226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18. Установка защитных ограждений от воздействия движущихся частей и разлетающихся предметов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части 3 статьи 214 ТК;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2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пункта 27 и 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пункт 93 Правил, утвержденных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приказом Минтруда от 27.11.2020 №833н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 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7692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19. Приобретение алкотестеров и тахографов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 части 1 статьи 76 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36000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20.Оснащение санитарно-бытовых помещений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8 части 3 статьи 214 ТК; часть 1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статьи 216.3 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804240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21.Обустройство мест отдыха, обогрева работников при работах на открытом воздухе, укрытий от солнечных лучей и атмосферных осадков 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Часть 1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статьи 216.3 ТК;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Часть 2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статьи 109 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1000 руб. на директора, 20 000 руб. или приостановление деятельности на 90 суток – для организации  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(ст.6.3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800911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22. Проектирование и обустройство учебно-тренировочных полигонов для отработки практических навыков безопасного производства работ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10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части 3 статьи 214 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  <a:tr h="1109144"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23. Приобретение оборудования, защитных устройств, приспособлений для автоматизации технологических процессов и пр.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Абзац 10 </a:t>
                      </a: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части 3 статьи 214 ТК;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статья 213.1 ТК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  <a:tc>
                  <a:txBody>
                    <a:bodyPr/>
                    <a:p>
                      <a:pPr marL="0" marR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5000 руб. – на директора, 80 000 руб. – на организацию</a:t>
                      </a: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 (ч.1  ст.5.27.1 КоАП)</a:t>
                      </a:r>
                      <a:endParaRPr sz="9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vert="horz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 flipH="0" flipV="0">
            <a:off x="354132" y="234082"/>
            <a:ext cx="6633210" cy="366119"/>
          </a:xfrm>
          <a:prstGeom prst="rect">
            <a:avLst/>
          </a:prstGeom>
          <a:solidFill>
            <a:srgbClr val="F5D7F4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1"/>
              <a:t>Собственные разработки и находки по вопросам ОТ</a:t>
            </a:r>
            <a:endParaRPr b="1"/>
          </a:p>
        </p:txBody>
      </p:sp>
      <p:sp>
        <p:nvSpPr>
          <p:cNvPr id="3" name="Прямоугольник 2"/>
          <p:cNvSpPr/>
          <p:nvPr/>
        </p:nvSpPr>
        <p:spPr bwMode="auto">
          <a:xfrm flipH="0" flipV="0">
            <a:off x="354132" y="1261180"/>
            <a:ext cx="8472516" cy="5303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/>
              <a:t>	Мы сами определили для себя Методику расчета профрисков, выбрали расчет</a:t>
            </a:r>
            <a:r>
              <a:rPr lang="ru-RU"/>
              <a:t> по методу </a:t>
            </a:r>
            <a:r>
              <a:rPr lang="ru-RU"/>
              <a:t>Файна</a:t>
            </a:r>
            <a:r>
              <a:rPr lang="ru-RU"/>
              <a:t> – </a:t>
            </a:r>
            <a:r>
              <a:rPr lang="ru-RU"/>
              <a:t>Кинни</a:t>
            </a:r>
            <a:r>
              <a:rPr lang="ru-RU"/>
              <a:t>, хотя матричный метод более прост.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Методика 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матричного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метода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заключается в определении степени риска и ее оценки, через показатели вероятности возникновения опасных событий и тяжести их последствий. Для этого разрабатывается и используется специальная 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матрица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ru-RU"/>
          </a:p>
          <a:p>
            <a:pPr algn="just">
              <a:defRPr/>
            </a:pPr>
            <a:r>
              <a:rPr lang="ru-RU"/>
              <a:t>	М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етодика 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Файна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Кинни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для каждого рабочего места определяют все возможные опасности. Затем каждой опасности присваивают баллы по трем показателям: вероятность, подверженность и последствия наступления событий. Баллы комиссия присваивает самостоятельно. Затем баллы перемножают и получают индекс профессионального риска.</a:t>
            </a:r>
            <a:r>
              <a:rPr lang="ru-RU"/>
              <a:t> </a:t>
            </a:r>
            <a:endParaRPr lang="ru-RU"/>
          </a:p>
          <a:p>
            <a:pPr algn="just">
              <a:defRPr/>
            </a:pPr>
            <a:r>
              <a:rPr lang="ru-RU"/>
              <a:t>	Сначала мы прошли дистанционное обучение, сдали экзамены, получили удостоверения.  После приступили к работе</a:t>
            </a:r>
            <a:r>
              <a:rPr lang="ru-RU"/>
              <a:t>. </a:t>
            </a:r>
            <a:endParaRPr lang="ru-RU"/>
          </a:p>
          <a:p>
            <a:pPr algn="just">
              <a:defRPr/>
            </a:pPr>
            <a:r>
              <a:rPr lang="ru-RU"/>
              <a:t>	Процедура определения и расчета профрисков длительная, но интересная. В ней задействованы все сотрудники, они заполняли опросник- анкету с указанием фамилии и профессии /должности, заверяли ее личной подписью.</a:t>
            </a:r>
            <a:endParaRPr lang="ru-RU"/>
          </a:p>
          <a:p>
            <a:pPr algn="just">
              <a:defRPr/>
            </a:pPr>
            <a:r>
              <a:rPr lang="ru-RU"/>
              <a:t>	С отчетом о проведении расчета профрисков в 2025 году можно ознакомиться у нас. </a:t>
            </a:r>
            <a:endParaRPr/>
          </a:p>
        </p:txBody>
      </p:sp>
      <p:sp>
        <p:nvSpPr>
          <p:cNvPr id="819098696" name=""/>
          <p:cNvSpPr txBox="1"/>
          <p:nvPr/>
        </p:nvSpPr>
        <p:spPr bwMode="auto">
          <a:xfrm flipH="0" flipV="0">
            <a:off x="3434272" y="732578"/>
            <a:ext cx="252047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b="1"/>
              <a:t>Расчет </a:t>
            </a:r>
            <a:r>
              <a:rPr lang="ru-RU" b="1"/>
              <a:t>профрисков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 flipH="0" flipV="0">
            <a:off x="182016" y="188971"/>
            <a:ext cx="8780327" cy="640440"/>
          </a:xfrm>
          <a:prstGeom prst="rect">
            <a:avLst/>
          </a:prstGeom>
          <a:solidFill>
            <a:srgbClr val="F5D7F4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В России разработан новый алгоритм оказания первой помощи  </a:t>
            </a:r>
            <a:endParaRPr lang="ru-RU" sz="1800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Сайт:  Все о первой помощи </a:t>
            </a:r>
            <a:r>
              <a:rPr lang="ru-RU" sz="1800" b="1" i="0" u="sng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  <a:hlinkClick r:id="rId2" tooltip="https://allfirstaid.ru/"/>
              </a:rPr>
              <a:t>allfirstaid.ru</a:t>
            </a:r>
            <a:r>
              <a:rPr lang="ru-RU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</a:t>
            </a:r>
            <a:endParaRPr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3313" name="Рисунок 1"/>
          <p:cNvPicPr>
            <a:picLocks noChangeAspect="1" noChangeArrowheads="1"/>
          </p:cNvPicPr>
          <p:nvPr/>
        </p:nvPicPr>
        <p:blipFill>
          <a:blip r:embed="rId3"/>
          <a:srcRect l="0" t="3989" r="0" b="0"/>
          <a:stretch/>
        </p:blipFill>
        <p:spPr bwMode="auto">
          <a:xfrm flipH="0" flipV="0">
            <a:off x="645385" y="973256"/>
            <a:ext cx="8051489" cy="4348320"/>
          </a:xfrm>
          <a:prstGeom prst="rect">
            <a:avLst/>
          </a:prstGeom>
          <a:noFill/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 flipH="0" flipV="0">
            <a:off x="182016" y="5270747"/>
            <a:ext cx="8787167" cy="14024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400" b="1" i="0" u="none" strike="noStrike" cap="none">
                <a:ln>
                  <a:noFill/>
                </a:ln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 </a:t>
            </a:r>
            <a:endParaRPr lang="ru-RU" sz="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Об этом сайте я узнала </a:t>
            </a:r>
            <a:r>
              <a:rPr lang="ru-RU" sz="1600" b="1" i="0" u="none" strike="noStrike" cap="none" spc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год назад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на конференции, которая проходила  в Московском кремле.  </a:t>
            </a:r>
            <a:endParaRPr sz="1600">
              <a:latin typeface="Arial"/>
              <a:cs typeface="Arial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Мы сами разработали программу и обучили  служащих и рабочих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оказанию первой доврачебной помощи с проверкой знаний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и оформлением протокола проверки знаний.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xmlns:a="http://schemas.openxmlformats.org/drawingml/2006/main" noGrp="1"/>
          </p:cNvGraphicFramePr>
          <p:nvPr/>
        </p:nvGraphicFramePr>
        <p:xfrm>
          <a:off x="978076" y="1357200"/>
          <a:ext cx="7189200" cy="49556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7176499"/>
              </a:tblGrid>
              <a:tr h="4917600">
                <a:tc>
                  <a:txBody>
                    <a:bodyPr/>
                    <a:p>
                      <a:pPr algn="ctr">
                        <a:lnSpc>
                          <a:spcPct val="114999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600">
                          <a:solidFill>
                            <a:schemeClr val="tx1"/>
                          </a:solidFill>
                        </a:rPr>
                        <a:t>Памятка</a:t>
                      </a: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                                      </a:t>
                      </a:r>
                      <a:endParaRPr lang="ru-RU" sz="13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14999"/>
                        </a:lnSpc>
                        <a:spcAft>
                          <a:spcPts val="0"/>
                        </a:spcAft>
                        <a:defRPr/>
                      </a:pPr>
                      <a:endParaRPr sz="1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14999"/>
                        </a:lnSpc>
                        <a:spcBef>
                          <a:spcPts val="113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Необходимые документы при приеме на работу:</a:t>
                      </a:r>
                      <a:endParaRPr lang="ru-RU" sz="1300">
                        <a:solidFill>
                          <a:schemeClr val="tx1"/>
                        </a:solidFill>
                      </a:endParaRPr>
                    </a:p>
                    <a:p>
                      <a:pPr marL="228806" indent="-228806">
                        <a:lnSpc>
                          <a:spcPct val="114999"/>
                        </a:lnSpc>
                        <a:spcBef>
                          <a:spcPts val="113"/>
                        </a:spcBef>
                        <a:spcAft>
                          <a:spcPts val="0"/>
                        </a:spcAft>
                        <a:buAutoNum type="arabicPeriod"/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Паспорт</a:t>
                      </a:r>
                      <a:endParaRPr sz="1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14999"/>
                        </a:lnSpc>
                        <a:spcBef>
                          <a:spcPts val="113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2. Трудовая книжка или сведения о трудовой деятельности   </a:t>
                      </a:r>
                      <a:endParaRPr sz="1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14999"/>
                        </a:lnSpc>
                        <a:spcBef>
                          <a:spcPts val="113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3. Справки </a:t>
                      </a:r>
                      <a:r>
                        <a:rPr lang="ru-RU" sz="13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о наличии (отсутствии) </a:t>
                      </a: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судимости и </a:t>
                      </a:r>
                      <a:r>
                        <a:rPr lang="ru-RU" sz="13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административного наказания за потребление наркотических средств или психотропных веществ без назначения врача</a:t>
                      </a: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;</a:t>
                      </a:r>
                      <a:endParaRPr sz="1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14999"/>
                        </a:lnSpc>
                        <a:spcBef>
                          <a:spcPts val="113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4. Сведения о прохождении мединского осмотра </a:t>
                      </a:r>
                      <a:endParaRPr sz="1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14999"/>
                        </a:lnSpc>
                        <a:spcBef>
                          <a:spcPts val="113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5. Сведения о прохождении п</a:t>
                      </a:r>
                      <a:r>
                        <a:rPr lang="ru-RU" sz="1300" b="1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рофессиональной гигиенической подготовки</a:t>
                      </a:r>
                      <a:endParaRPr sz="1000" b="1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14999"/>
                        </a:lnSpc>
                        <a:spcBef>
                          <a:spcPts val="113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6. Сведения о вакцинации:</a:t>
                      </a:r>
                      <a:r>
                        <a:rPr lang="ru-RU" sz="1000">
                          <a:solidFill>
                            <a:schemeClr val="tx1"/>
                          </a:solidFill>
                        </a:rPr>
                        <a:t> 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  <a:p>
                      <a:pPr marL="342900" lvl="0" indent="-342900">
                        <a:lnSpc>
                          <a:spcPct val="114999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от гриппа — ежегодно;                                            </a:t>
                      </a:r>
                      <a:endParaRPr lang="ru-RU" sz="1300">
                        <a:solidFill>
                          <a:schemeClr val="tx1"/>
                        </a:solidFill>
                      </a:endParaRPr>
                    </a:p>
                    <a:p>
                      <a:pPr marL="342900" lvl="0" indent="-342900">
                        <a:lnSpc>
                          <a:spcPct val="114999"/>
                        </a:lnSpc>
                        <a:spcBef>
                          <a:spcPts val="599"/>
                        </a:spcBef>
                        <a:spcAft>
                          <a:spcPts val="599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от дифтерии и столбняка — каждые 10 лет; </a:t>
                      </a:r>
                      <a:endParaRPr lang="ru-RU" sz="1300">
                        <a:solidFill>
                          <a:schemeClr val="tx1"/>
                        </a:solidFill>
                      </a:endParaRPr>
                    </a:p>
                    <a:p>
                      <a:pPr marL="342900" lvl="0" indent="-342900">
                        <a:lnSpc>
                          <a:spcPct val="114999"/>
                        </a:lnSpc>
                        <a:spcBef>
                          <a:spcPts val="599"/>
                        </a:spcBef>
                        <a:spcAft>
                          <a:spcPts val="599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от кори — ранее не болевшим, при отсутствии информации о проведённой иммунизации;                                                   </a:t>
                      </a:r>
                      <a:endParaRPr lang="ru-RU" sz="1300">
                        <a:solidFill>
                          <a:schemeClr val="tx1"/>
                        </a:solidFill>
                      </a:endParaRPr>
                    </a:p>
                    <a:p>
                      <a:pPr marL="342900" lvl="0" indent="-342900">
                        <a:lnSpc>
                          <a:spcPct val="114999"/>
                        </a:lnSpc>
                        <a:spcBef>
                          <a:spcPts val="599"/>
                        </a:spcBef>
                        <a:spcAft>
                          <a:spcPts val="599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от краснухи - прежде не болевшим, при отсутствии сведений о вакцинации;</a:t>
                      </a:r>
                      <a:endParaRPr lang="ru-RU" sz="1300">
                        <a:solidFill>
                          <a:schemeClr val="tx1"/>
                        </a:solidFill>
                      </a:endParaRPr>
                    </a:p>
                    <a:p>
                      <a:pPr marL="342900" lvl="0" indent="-342900">
                        <a:lnSpc>
                          <a:spcPct val="114999"/>
                        </a:lnSpc>
                        <a:spcBef>
                          <a:spcPts val="599"/>
                        </a:spcBef>
                        <a:spcAft>
                          <a:spcPts val="599"/>
                        </a:spcAft>
                        <a:buSzPts val="1000"/>
                        <a:buFont typeface="Symbol"/>
                        <a:buChar char=""/>
                        <a:tabLst>
                          <a:tab pos="457200" algn="l"/>
                        </a:tabLs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от гепатита В — с 18 до 55 лет;   </a:t>
                      </a:r>
                      <a:endParaRPr sz="100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lnSpc>
                          <a:spcPct val="114999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57200" algn="l"/>
                        </a:tabLst>
                        <a:defRPr/>
                      </a:pP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Или </a:t>
                      </a: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медотвод</a:t>
                      </a:r>
                      <a:r>
                        <a:rPr lang="ru-RU" sz="1300">
                          <a:solidFill>
                            <a:schemeClr val="tx1"/>
                          </a:solidFill>
                        </a:rPr>
                        <a:t>  по показаниям ( на год или пожизненный)                   </a:t>
                      </a:r>
                      <a:endParaRPr sz="100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4718" marR="64718" marT="0" marB="0">
                    <a:solidFill>
                      <a:srgbClr val="EFDAF0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 flipH="0" flipV="0">
            <a:off x="172566" y="256691"/>
            <a:ext cx="8824787" cy="823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		В настоящее время работаем во взаимодействии со службой отдела кадров. </a:t>
            </a:r>
            <a:endParaRPr lang="ru-RU" sz="1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 приеме на работу с помощью разработанного алгоритма проводится проверка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вакцинации,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которая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должна быть в полном объеме. </a:t>
            </a:r>
            <a:endParaRPr lang="ru-RU" sz="1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 flipH="0" flipV="0">
            <a:off x="254415" y="281251"/>
            <a:ext cx="8578801" cy="13109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>
            <a:lvl1pPr indent="630238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2pPr>
            <a:lvl3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5pPr>
            <a:lvl6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8pPr>
            <a:lvl9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  <a:cs typeface="Arial"/>
              </a:defRPr>
            </a:lvl9pPr>
          </a:lstStyle>
          <a:p>
            <a:pPr marL="0" marR="0" lvl="0" indent="630238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Штраф за отсутствие вакцинации у работников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Роспотребнадзор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накладывает на руководителя и на специалистов по охране труда, а не на самого сотрудника. </a:t>
            </a:r>
            <a:endParaRPr sz="2000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630238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Вакцинация не проверяется при прохождении медосмотра и допуска к работе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в частных клиниках.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ЭЛМКа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формируется только при проверке одной вакцинации от кори.   </a:t>
            </a:r>
            <a:endParaRPr lang="ru-RU" sz="1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 flipH="0" flipV="0">
            <a:off x="353680" y="2963202"/>
            <a:ext cx="8467748" cy="35055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630238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Заочное гигиеническое обучение </a:t>
            </a:r>
            <a:r>
              <a:rPr lang="ru-RU" sz="1600" b="1" i="0" u="none" strike="noStrike" cap="none" spc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можно пройти на </a:t>
            </a:r>
            <a:r>
              <a:rPr lang="ru-RU" sz="1600" b="1" i="0" u="none" strike="noStrike" cap="none" spc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на сайте: </a:t>
            </a:r>
            <a:r>
              <a:rPr lang="en-US" sz="1600" b="1" i="0" u="none" strike="noStrike" cap="none" spc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gigtest</a:t>
            </a:r>
            <a:r>
              <a:rPr lang="ru-RU" sz="1600" b="1" i="0" u="none" strike="noStrike" cap="none" spc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r>
              <a:rPr lang="en-US" sz="1600" b="1" i="0" u="none" strike="noStrike" cap="none" spc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ru</a:t>
            </a:r>
            <a:r>
              <a:rPr lang="en-US" sz="1600" b="1" i="0" u="none" strike="noStrike" cap="none" spc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	Выбираете: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филиал ФБУЗ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«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ЦГи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Э в ХМАО-Югре в Нижневартовском районе и г.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Мегионе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ru-RU" sz="1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630236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	заполняете: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ФИО, телефон, </a:t>
            </a:r>
            <a:r>
              <a:rPr lang="ru-RU" sz="1600" b="1" i="0" u="none" strike="noStrike" cap="none">
                <a:ln>
                  <a:noFill/>
                </a:ln>
                <a:solidFill>
                  <a:srgbClr val="2C4964"/>
                </a:solidFill>
                <a:latin typeface="Arial"/>
                <a:ea typeface="Arial"/>
                <a:cs typeface="Arial"/>
              </a:rPr>
              <a:t>Email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, мед книжка (есть), № мед.книжки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 	поставить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галочку в клеточке на согласие обработки персональных данных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endParaRPr lang="ru-RU" sz="1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630236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	продолжить: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дата рождения, домашний адрес, место работы (МБУ ДО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«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ДШИ им. А.М. Кузьмина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»)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, должность, пароль (придумать)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</a:t>
            </a:r>
            <a:endParaRPr lang="ru-RU" sz="1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630236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	выбираем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раздел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«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Гигиеническое обучение работников организаций дополнительного образования и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физ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культурно-спортивных организаций»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sz="1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630236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	ставим галочку в согласие Способ оплаты по договору (№ договора)    	выбираем тему, проходим обучение по 8 темам и  отвечаем на тест. </a:t>
            </a:r>
            <a:endParaRPr sz="1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630236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После успешной сдачи теста вас вносят в базу ХМАО и выходит протокол с номером,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перепишите и сообщите номер протокола 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Окуневой Д.В.</a:t>
            </a:r>
            <a:r>
              <a:rPr lang="ru-RU" sz="16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endParaRPr sz="16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72118479" name=""/>
          <p:cNvSpPr txBox="1"/>
          <p:nvPr/>
        </p:nvSpPr>
        <p:spPr bwMode="auto">
          <a:xfrm flipH="0" flipV="0">
            <a:off x="353680" y="1666874"/>
            <a:ext cx="8380991" cy="9909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630236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Прохождение гигиенического обучения</a:t>
            </a:r>
            <a:endParaRPr sz="1600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630236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900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630236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Памятка </a:t>
            </a:r>
            <a:endParaRPr lang="ru-RU" sz="1600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630236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(отправлена каждому сотруднику)</a:t>
            </a:r>
            <a:r>
              <a:rPr lang="ru-RU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en-US" sz="1600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 flipH="0" flipV="0">
            <a:off x="344860" y="273402"/>
            <a:ext cx="8504104" cy="3657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/>
              <a:t>	Обучение и проверку знаний  по </a:t>
            </a:r>
            <a:r>
              <a:rPr lang="ru-RU"/>
              <a:t>санитарному минимуму</a:t>
            </a:r>
            <a:r>
              <a:rPr lang="ru-RU"/>
              <a:t> (гигиеническое обучение) наши работники проходят 1раз в 2 года. Совместить прохождение медицинского осмотра и этого обучения в нашем учреждении не предоставляется возможным. Прохождение медицинских осмотров организовано  </a:t>
            </a:r>
            <a:r>
              <a:rPr lang="ru-RU"/>
              <a:t>осенью, а </a:t>
            </a:r>
            <a:r>
              <a:rPr lang="ru-RU"/>
              <a:t>обучение - весной.  Законодательные нормы, обязывающие переносить мероприятия, отсутствуют. </a:t>
            </a:r>
            <a:endParaRPr/>
          </a:p>
          <a:p>
            <a:pPr algn="just">
              <a:defRPr/>
            </a:pPr>
            <a:r>
              <a:rPr lang="ru-RU"/>
              <a:t>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/>
              <a:t>	Направляя на предварительные и периодические медосмотры педагогических работников, необходимо учесть, что необходимо направить список работников в течение 10 рабочих дней с даты утверждения данного списка в территориальный орган госсанэпиднадзора по фактическому месту нахождения организации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 flipH="0" flipV="0">
            <a:off x="323526" y="128746"/>
            <a:ext cx="8559997" cy="1829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	Меня очень заинтересовала тема  по поддержанию здоровья людей, в настоящее время разрабатываю корпоративную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программу  по  популяризации физической культуры среди работников учреждения.</a:t>
            </a:r>
            <a:endParaRPr lang="ru-RU" sz="1600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Активно изучаю Федеральную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 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программу 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 «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Активное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 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долголетие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.  </a:t>
            </a:r>
            <a:endParaRPr sz="1600" b="1"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600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Сайт «Российское долголетие» </a:t>
            </a:r>
            <a:r>
              <a:rPr lang="ru-RU" sz="1600" b="1" i="0" u="sng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  <a:hlinkClick r:id="rId2" tooltip="https://soc13.ru/admin/nko-aap.ru/russian-dolgoletie/"/>
              </a:rPr>
              <a:t>nko-aap.ru/</a:t>
            </a:r>
            <a:r>
              <a:rPr lang="ru-RU" sz="1600" b="1" i="0" u="sng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  <a:hlinkClick r:id="rId2" tooltip="https://soc13.ru/admin/nko-aap.ru/russian-dolgoletie/"/>
              </a:rPr>
              <a:t>russian-dolgoletie</a:t>
            </a:r>
            <a:r>
              <a:rPr lang="ru-RU" sz="1600" b="1" i="0" u="sng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  <a:hlinkClick r:id="rId2" tooltip="https://soc13.ru/admin/nko-aap.ru/russian-dolgoletie/"/>
              </a:rPr>
              <a:t>/</a:t>
            </a:r>
            <a:r>
              <a:rPr lang="ru-RU" sz="16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sz="1600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1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21505" name="Рисунок 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 flipH="0" flipV="0">
            <a:off x="323526" y="1781916"/>
            <a:ext cx="4320705" cy="2430396"/>
          </a:xfrm>
          <a:prstGeom prst="rect">
            <a:avLst/>
          </a:prstGeom>
          <a:noFill/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3846194"/>
            <a:ext cx="183636" cy="3661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795605359" name="Рисунок 1"/>
          <p:cNvPicPr/>
          <p:nvPr/>
        </p:nvPicPr>
        <p:blipFill>
          <a:blip r:embed="rId4"/>
          <a:stretch/>
        </p:blipFill>
        <p:spPr bwMode="auto">
          <a:xfrm flipH="0" flipV="0">
            <a:off x="3846180" y="3672134"/>
            <a:ext cx="4966031" cy="296890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rcRect l="1" t="9946" r="-808" b="0"/>
          <a:stretch/>
        </p:blipFill>
        <p:spPr bwMode="auto">
          <a:xfrm flipH="0" flipV="0">
            <a:off x="251519" y="188640"/>
            <a:ext cx="5473202" cy="3168351"/>
          </a:xfrm>
          <a:prstGeom prst="rect">
            <a:avLst/>
          </a:prstGeom>
          <a:ln>
            <a:noFill/>
          </a:ln>
        </p:spPr>
      </p:pic>
      <p:pic>
        <p:nvPicPr>
          <p:cNvPr id="3" name="Рисунок 2"/>
          <p:cNvPicPr/>
          <p:nvPr/>
        </p:nvPicPr>
        <p:blipFill>
          <a:blip r:embed="rId3"/>
          <a:srcRect l="0" t="5413" r="0" b="0"/>
          <a:stretch/>
        </p:blipFill>
        <p:spPr bwMode="auto">
          <a:xfrm flipH="0" flipV="0">
            <a:off x="3678611" y="3480464"/>
            <a:ext cx="5214165" cy="313411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 bwMode="auto">
          <a:xfrm flipH="0" flipV="0">
            <a:off x="683568" y="404662"/>
            <a:ext cx="7609052" cy="3200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b="1"/>
              <a:t>У нас уделяется должное внимание охране труда, благодаря чему в школе обеспечены оптимальные условия труда. </a:t>
            </a:r>
            <a:endParaRPr lang="ru-RU" sz="2400" b="1"/>
          </a:p>
          <a:p>
            <a:pPr algn="ctr">
              <a:defRPr/>
            </a:pPr>
            <a:r>
              <a:rPr lang="ru-RU" sz="2400" b="1"/>
              <a:t> </a:t>
            </a:r>
            <a:endParaRPr lang="ru-RU" sz="2400" b="1"/>
          </a:p>
          <a:p>
            <a:pPr algn="ctr">
              <a:defRPr/>
            </a:pPr>
            <a:r>
              <a:rPr lang="ru-RU" sz="3600" b="1">
                <a:solidFill>
                  <a:srgbClr val="C00000"/>
                </a:solidFill>
                <a:latin typeface="Times New Roman"/>
                <a:cs typeface="Times New Roman"/>
              </a:rPr>
              <a:t>Помни</a:t>
            </a:r>
            <a:r>
              <a:rPr lang="ru-RU" sz="3600" b="1">
                <a:solidFill>
                  <a:srgbClr val="C00000"/>
                </a:solidFill>
                <a:latin typeface="Times New Roman"/>
                <a:cs typeface="Times New Roman"/>
              </a:rPr>
              <a:t>,  везде и всегда:</a:t>
            </a:r>
            <a:br>
              <a:rPr lang="ru-RU" sz="3600" b="1">
                <a:solidFill>
                  <a:srgbClr val="C00000"/>
                </a:solidFill>
                <a:latin typeface="Times New Roman"/>
                <a:cs typeface="Times New Roman"/>
              </a:rPr>
            </a:br>
            <a:r>
              <a:rPr lang="ru-RU" sz="3600" b="1">
                <a:solidFill>
                  <a:srgbClr val="C00000"/>
                </a:solidFill>
                <a:latin typeface="Times New Roman"/>
                <a:cs typeface="Times New Roman"/>
              </a:rPr>
              <a:t>Главное – это охрана труда!</a:t>
            </a:r>
            <a:r>
              <a:rPr lang="ru-RU" sz="3600">
                <a:latin typeface="Times New Roman"/>
                <a:cs typeface="Times New Roman"/>
              </a:rPr>
              <a:t> </a:t>
            </a:r>
            <a:endParaRPr lang="ru-RU" sz="3600" b="1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Спасибо за внимание!</a:t>
            </a:r>
            <a:endParaRPr lang="ru-RU" sz="3600" b="1">
              <a:latin typeface="Times New Roman"/>
              <a:cs typeface="Times New Roman"/>
            </a:endParaRPr>
          </a:p>
        </p:txBody>
      </p:sp>
      <p:pic>
        <p:nvPicPr>
          <p:cNvPr id="3" name="Рисунок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7848600" y="5975350"/>
            <a:ext cx="1295400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5497798" name=""/>
          <p:cNvSpPr txBox="1"/>
          <p:nvPr/>
        </p:nvSpPr>
        <p:spPr bwMode="auto">
          <a:xfrm flipH="0" flipV="0">
            <a:off x="848810" y="4136883"/>
            <a:ext cx="7453529" cy="2103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b="1"/>
              <a:t>Если есть вопросы, нужны помощь, совет, обращайтесь:</a:t>
            </a:r>
            <a:endParaRPr lang="ru-RU" b="1"/>
          </a:p>
          <a:p>
            <a:pPr algn="l">
              <a:defRPr/>
            </a:pPr>
            <a:endParaRPr lang="ru-RU" sz="2400"/>
          </a:p>
          <a:p>
            <a:pPr algn="ctr">
              <a:defRPr/>
            </a:pPr>
            <a:r>
              <a:rPr lang="ru-RU" b="1"/>
              <a:t>Окунева Дина Валериевна, Митрофанова Любовь Сидоровна, специалисты по охране труда МБУ ДО «Детская школа искусств имени А.М.Кузьмина», </a:t>
            </a:r>
            <a:endParaRPr lang="ru-RU" b="1"/>
          </a:p>
          <a:p>
            <a:pPr algn="ctr">
              <a:defRPr/>
            </a:pPr>
            <a:endParaRPr sz="1800" b="1"/>
          </a:p>
          <a:p>
            <a:pPr algn="ctr">
              <a:defRPr/>
            </a:pPr>
            <a:r>
              <a:rPr lang="ru-RU" b="1"/>
              <a:t>телефоны 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(34643) 3-18-78</a:t>
            </a:r>
            <a:r>
              <a:rPr/>
              <a:t>, </a:t>
            </a:r>
            <a:r>
              <a:rPr sz="1800" b="1"/>
              <a:t>5-50-78</a:t>
            </a:r>
            <a:endParaRPr sz="1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0</Words>
  <Application>Р7-Офис/2024.3.2.551</Application>
  <DocSecurity>0</DocSecurity>
  <PresentationFormat>Экран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Администратор</dc:creator>
  <cp:keywords/>
  <dc:description/>
  <dc:identifier/>
  <dc:language/>
  <cp:lastModifiedBy/>
  <cp:revision>52</cp:revision>
  <dcterms:created xsi:type="dcterms:W3CDTF">2025-11-19T06:02:27Z</dcterms:created>
  <dcterms:modified xsi:type="dcterms:W3CDTF">2026-01-22T09:42:20Z</dcterms:modified>
  <cp:category/>
  <cp:contentStatus/>
  <cp:version/>
</cp:coreProperties>
</file>